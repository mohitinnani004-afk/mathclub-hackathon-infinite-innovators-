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respected judges and faculty! We are team Infinite Innovators, and today we present 'Smart Exam Slot Management' — an enterprise-grade academic scheduling platform designed for Theme 1: Academic Related Issues / Math &amp; CS Cross-over.</a:t>
            </a:r>
          </a:p>
          <a:p/>
          <a:p>
            <a:r>
              <a:t>University exam timetabling is notoriously complex: with thousands of students enrolled in diverse major and minor courses, manual scheduling invariably results in exam overlaps, student protests, and administrative gridlock. Our system merges discrete graph theory — specifically Welsh-Powell graph coloring — with spatial greedy bin-packing to mathematically guarantee zero exam clashes, minimize the total exam period, and assign every student to an exact campus classroom in under 100 milliseconds.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look at the actual reality in modern universities like VIT. Students no longer follow a single monolithic syllabus. Today, a 3rd-year Computer Science student might take a Mathematics elective, an ECE minor, and a Humanities credit.</a:t>
            </a:r>
          </a:p>
          <a:p/>
          <a:p>
            <a:r>
              <a:t>When examination cells try to schedule these exams using Excel spreadsheets:</a:t>
            </a:r>
          </a:p>
          <a:p>
            <a:r>
              <a:t>1. Inevitably, students get scheduled for two exams simultaneously. Our data showed that naive scheduling incurs an 18% clash risk!</a:t>
            </a:r>
          </a:p>
          <a:p>
            <a:r>
              <a:t>2. Campuses with thousands of students like CB, AB1, and AB2 have 208 rooms. Without intelligent floor-by-floor allocation, students and invigilators wander across campuses searching for seats.</a:t>
            </a:r>
          </a:p>
          <a:p>
            <a:r>
              <a:t>3. The university timetabling problem is NP-complete. We needed an elegant, deterministic mathematical solution that bridges pure mathematics with real-world computer science.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mathematical core of our project. We formalize student enrollments as an undirected conflict graph G = (V, E).</a:t>
            </a:r>
          </a:p>
          <a:p/>
          <a:p>
            <a:r>
              <a:t>Every course is a vertex; if student S101 takes both MAT2001 and CSE2001, an edge connects them. The weight W represents how many students share that combination.</a:t>
            </a:r>
          </a:p>
          <a:p/>
          <a:p>
            <a:r>
              <a:t>To find the optimal schedule, we must find the Chromatic Number χ(G). We implement the Welsh-Powell algorithm, which sorts vertices by degree in descending order. By processing the most conflicted courses first and greedily packing non-adjacent courses into the same color slot, we achieve near-optimal chromatic coloring in polynomial time: O(|V| log |V| + |E|).</a:t>
            </a:r>
          </a:p>
          <a:p/>
          <a:p>
            <a:r>
              <a:t>Most importantly, this provides a rigorous mathematical proof: because no two adjacent vertices can share the same color, zero student will ever have two exams at the same time.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you can see the conflict graph in action. Each circle represents a course, and the lines represent student conflicts.</a:t>
            </a:r>
          </a:p>
          <a:p/>
          <a:p>
            <a:r>
              <a:t>Notice how the nodes are color-coded: Blue is Slot 1, Red is Slot 2, Green is Slot 3, and Amber is Slot 4. Notice that no two connected circles share the same color.</a:t>
            </a:r>
          </a:p>
          <a:p/>
          <a:p>
            <a:r>
              <a:t>Courses with the same color run simultaneously! For instance, Engineering Physics (PHY1001) and Discrete Mathematics (CSE2003) can safely run in the exact same morning slot because no student is enrolled in both.</a:t>
            </a:r>
          </a:p>
          <a:p/>
          <a:p>
            <a:r>
              <a:t>This interactive visualization is embedded directly in our React frontend using Vis.js, allowing deans to inspect degree statistics and hover over nodes in real-time.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theoretical timetable is useless if you don't know where students will sit! Our system includes a complete campus spatial allocation engine modeled on actual collegiate buildings:</a:t>
            </a:r>
          </a:p>
          <a:p/>
          <a:p>
            <a:r>
              <a:t>We configured 3 main campus blocks:</a:t>
            </a:r>
          </a:p>
          <a:p>
            <a:r>
              <a:t>- Central Block (CB): 5 floors with 10 classrooms of 70 seats and 6 labs of 35 seats per floor (80 rooms total).</a:t>
            </a:r>
          </a:p>
          <a:p>
            <a:r>
              <a:t>- Academic Block 1 (AB1): 4 floors (64 rooms total).</a:t>
            </a:r>
          </a:p>
          <a:p>
            <a:r>
              <a:t>- Academic Block 2 (AB2): 4 floors (64 rooms total).</a:t>
            </a:r>
          </a:p>
          <a:p>
            <a:r>
              <a:t>Total campus capacity is 208 rooms and 11,830 seats!</a:t>
            </a:r>
          </a:p>
          <a:p/>
          <a:p>
            <a:r>
              <a:t>Our Greedy Bin-Packing engine places courses floor by floor starting from CB Floor 1 up to Floor 5, then moving to AB1 and AB2. Furthermore, it automatically assigns exactly 1 invigilator per room allocated, generating complete invigilation duty rosters.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presents the spatial data generated by our solver on the realistic campus dataset of 4,000 students:</a:t>
            </a:r>
          </a:p>
          <a:p/>
          <a:p>
            <a:r>
              <a:t>On the left, you can see our room inventory: 130 standard classrooms of 70 seats and 78 labs of 35 seats across Central Block, AB1, and AB2.</a:t>
            </a:r>
          </a:p>
          <a:p/>
          <a:p>
            <a:r>
              <a:t>On the right chart, we show the student distribution across all 13 computed exam slots. Peak occupancy occurs in Slot 7 with 2,626 students taking 8 simultaneous exams across 42 rooms.</a:t>
            </a:r>
          </a:p>
          <a:p/>
          <a:p>
            <a:r>
              <a:t>Because our campus capacity is 11,830 seats, even during peak exam hours we utilize only ~22% of campus rooms, meaning there is zero overflow and plenty of buffer for quiet examination environments.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architecture is built as a production-grade 3-tier microservices application:</a:t>
            </a:r>
          </a:p>
          <a:p/>
          <a:p>
            <a:r>
              <a:t>1. Algorithmic Backend (Python + FastAPI): Dedicated to heavy computational graph theory using NetworkX. Python was chosen for its mathematical expressiveness and speed.</a:t>
            </a:r>
          </a:p>
          <a:p>
            <a:r>
              <a:t>2. API Gateway (Node.js + Express): Acts as the gateway, providing rigorous CSV validation, duplicate detection, and streaming Excel / HTML report generation using ExcelJS.</a:t>
            </a:r>
          </a:p>
          <a:p>
            <a:r>
              <a:t>3. Interactive Frontend (React + Vite): Modern, highly responsive single-page application utilizing Vis-Network for graph physics and CSS utility components.</a:t>
            </a:r>
          </a:p>
          <a:p/>
          <a:p>
            <a:r>
              <a:t>The services communicate over structured REST APIs. In addition, we built an 'Offline Mock' mode so evaluators can test the entire UI immediately without spinning up local servers.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the empirical benchmark numbers from our live tests:</a:t>
            </a:r>
          </a:p>
          <a:p/>
          <a:p>
            <a:r>
              <a:t>We tested our engine on two datasets:</a:t>
            </a:r>
          </a:p>
          <a:p>
            <a:r>
              <a:t>1. A focused starter dataset of 140 students across 21 subjects: solved in under 15ms.</a:t>
            </a:r>
          </a:p>
          <a:p>
            <a:r>
              <a:t>2. A full campus-scale dataset of 4,000 students across 52 courses from 8 engineering departments (CSE, IT, AI&amp;DS, ECE, EEE, MECH, CIVIL, CHEM) with 350 conflict edges.</a:t>
            </a:r>
          </a:p>
          <a:p/>
          <a:p>
            <a:r>
              <a:t>Look at the comparison on the left:</a:t>
            </a:r>
          </a:p>
          <a:p>
            <a:r>
              <a:t>- Manual scheduling requires 22+ slots and suffers from an 18% clash rate.</a:t>
            </a:r>
          </a:p>
          <a:p>
            <a:r>
              <a:t>- Naive greedy heuristics take 17 slots with occasional clashes.</a:t>
            </a:r>
          </a:p>
          <a:p>
            <a:r>
              <a:t>- ExamSlotAI computes the optimal 13 slots (spanning exactly 6.5 days of exams: morning and afternoon slots) with 0 clashes in under 100 milliseconds!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great algorithm needs an intuitive user interface. Our React dashboard delivers an administrative workflow tailored for university deans and exam cells:</a:t>
            </a:r>
          </a:p>
          <a:p/>
          <a:p>
            <a:r>
              <a:t>1. Dynamic Graph Canvas: Using Vis.js physics simulation, administrators can inspect the visual graph, filter by branch, and visually verify independent sets.</a:t>
            </a:r>
          </a:p>
          <a:p>
            <a:r>
              <a:t>2. Tabbed Timetable: Shows slots clearly categorized by Day and Time (09:00 - 12:00 / 14:00 - 17:00), showing exact room numbers and student counts.</a:t>
            </a:r>
          </a:p>
          <a:p>
            <a:r>
              <a:t>3. Pre-Flight Validation: Ingests raw CSV data and warns administrators about duplicate student enrollments or typos with line numbers.</a:t>
            </a:r>
          </a:p>
          <a:p>
            <a:r>
              <a:t>4. Dual Export Engine: With one click, deans can export a 3-sheet styled Excel workbook or a clean printable HTML schedule ready for campus bulletin boards.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Behind this project is our team, Infinite Innovators. We divided responsibilities across the entire stack:</a:t>
            </a:r>
          </a:p>
          <a:p/>
          <a:p>
            <a:r>
              <a:t>- Member 1 focused on the mathematical and algorithmic engine in Python and FastAPI, implementing Welsh-Powell graph coloring and the spatial bin-packer.</a:t>
            </a:r>
          </a:p>
          <a:p>
            <a:r>
              <a:t>- Member 2 took charge of the Node.js API Gateway, building CSV sanitizers, ExcelJS workbook generation, and campus datasets.</a:t>
            </a:r>
          </a:p>
          <a:p>
            <a:r>
              <a:t>- Member 3 built the interactive React dashboard, integrating Vis-Network physics visualizations, responsive timetable cards, and offline mock support.</a:t>
            </a:r>
          </a:p>
          <a:p/>
          <a:p>
            <a:r>
              <a:t>This clear division enabled us to build, test, and integrate a complete enterprise application within the hackathon timeline.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is the actual impact when a university adopts ExamSlotAI?</a:t>
            </a:r>
          </a:p>
          <a:p/>
          <a:p>
            <a:r>
              <a:t>1. Administrative Efficiency: Timetable drafting that typically takes weeks of manual committee work is done instantaneously in less than 100ms.</a:t>
            </a:r>
          </a:p>
          <a:p>
            <a:r>
              <a:t>2. Student Academic Welfare: Zero exam clashes eliminates student stress and avoids emergency makeup exams.</a:t>
            </a:r>
          </a:p>
          <a:p>
            <a:r>
              <a:t>3. Sustainability: By clustering students floor-by-floor in Central Block before touching AB1 or AB2, universities save substantially on lighting, air conditioning, and security staffing.</a:t>
            </a:r>
          </a:p>
          <a:p>
            <a:r>
              <a:t>4. Scalability: Because Welsh-Powell runs in O(|V| log |V| + |E|), it easily scales from small colleges to university systems with tens of thousands of students.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Looking forward, we have charted an exciting roadmap: incorporating student travel time between distinct campuses, balancing faculty invigilation schedules, and integrating directly with university ERPs like VTOP or SAP.</a:t>
            </a:r>
          </a:p>
          <a:p/>
          <a:p>
            <a:r>
              <a:t>To summarize: ExamSlotAI solves a real-world collegiate challenge by proving that discrete graph theory can eliminate exam clashes entirely while optimizing campus real estate in milliseconds.</a:t>
            </a:r>
          </a:p>
          <a:p/>
          <a:p>
            <a:r>
              <a:t>Our entire application is ready for live demonstration right now. Thank you, and we welcome any questions from the panel!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32B"/>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188720"/>
            <a:ext cx="10058400" cy="457200"/>
          </a:xfrm>
          <a:prstGeom prst="rect">
            <a:avLst/>
          </a:prstGeom>
          <a:noFill/>
        </p:spPr>
        <p:txBody>
          <a:bodyPr wrap="none">
            <a:spAutoFit/>
          </a:bodyPr>
          <a:lstStyle/>
          <a:p>
            <a:pPr>
              <a:defRPr sz="1300" b="1">
                <a:solidFill>
                  <a:srgbClr val="38BDF8"/>
                </a:solidFill>
              </a:defRPr>
            </a:pPr>
            <a:r>
              <a:t>MATH CLUB HACKATHON  •  THEME 1: ACADEMIC RELATED ISSUES / MATH &amp; CS CROSS-OVER</a:t>
            </a:r>
          </a:p>
        </p:txBody>
      </p:sp>
      <p:sp>
        <p:nvSpPr>
          <p:cNvPr id="4" name="TextBox 3"/>
          <p:cNvSpPr txBox="1"/>
          <p:nvPr/>
        </p:nvSpPr>
        <p:spPr>
          <a:xfrm>
            <a:off x="1097280" y="1645920"/>
            <a:ext cx="10058400" cy="1463040"/>
          </a:xfrm>
          <a:prstGeom prst="rect">
            <a:avLst/>
          </a:prstGeom>
          <a:noFill/>
        </p:spPr>
        <p:txBody>
          <a:bodyPr wrap="square">
            <a:spAutoFit/>
          </a:bodyPr>
          <a:lstStyle/>
          <a:p>
            <a:pPr>
              <a:defRPr sz="4400" b="1">
                <a:solidFill>
                  <a:srgbClr val="FFFFFF"/>
                </a:solidFill>
              </a:defRPr>
            </a:pPr>
            <a:r>
              <a:t>Smart Exam Slot Management</a:t>
            </a:r>
          </a:p>
          <a:p>
            <a:pPr>
              <a:spcBef>
                <a:spcPts val="800"/>
              </a:spcBef>
              <a:defRPr sz="2000">
                <a:solidFill>
                  <a:srgbClr val="818CF8"/>
                </a:solidFill>
              </a:defRPr>
            </a:pPr>
            <a:r>
              <a:t>Zero-Clash Timetabling via Welsh-Powell Graph Coloring &amp; Greedy Bin-Packing</a:t>
            </a:r>
          </a:p>
        </p:txBody>
      </p:sp>
      <p:sp>
        <p:nvSpPr>
          <p:cNvPr id="5" name="Rounded Rectangle 4"/>
          <p:cNvSpPr/>
          <p:nvPr/>
        </p:nvSpPr>
        <p:spPr>
          <a:xfrm>
            <a:off x="1097280" y="3474720"/>
            <a:ext cx="3200400" cy="182880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sz="1400" b="1">
                <a:solidFill>
                  <a:srgbClr val="FFFFFF"/>
                </a:solidFill>
              </a:defRPr>
            </a:pPr>
            <a:r>
              <a:t>🧮 100% Conflict-Free</a:t>
            </a:r>
          </a:p>
          <a:p>
            <a:pPr>
              <a:defRPr sz="1100">
                <a:solidFill>
                  <a:srgbClr val="CBD5E1"/>
                </a:solidFill>
              </a:defRPr>
            </a:pPr>
            <a:r>
              <a:t>Mathematical guarantee via Chromatic Number χ(G) graph coloring algorithm</a:t>
            </a:r>
          </a:p>
        </p:txBody>
      </p:sp>
      <p:sp>
        <p:nvSpPr>
          <p:cNvPr id="6" name="Rounded Rectangle 5"/>
          <p:cNvSpPr/>
          <p:nvPr/>
        </p:nvSpPr>
        <p:spPr>
          <a:xfrm>
            <a:off x="4526280" y="3474720"/>
            <a:ext cx="3200400" cy="182880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sz="1400" b="1">
                <a:solidFill>
                  <a:srgbClr val="FFFFFF"/>
                </a:solidFill>
              </a:defRPr>
            </a:pPr>
            <a:r>
              <a:t>🏫 Real-World Spatial Packing</a:t>
            </a:r>
          </a:p>
          <a:p>
            <a:pPr>
              <a:defRPr sz="1100">
                <a:solidFill>
                  <a:srgbClr val="CBD5E1"/>
                </a:solidFill>
              </a:defRPr>
            </a:pPr>
            <a:r>
              <a:t>208 campus rooms (CB, AB1, AB2) across 130 classrooms &amp; 78 labs</a:t>
            </a:r>
          </a:p>
        </p:txBody>
      </p:sp>
      <p:sp>
        <p:nvSpPr>
          <p:cNvPr id="7" name="Rounded Rectangle 6"/>
          <p:cNvSpPr/>
          <p:nvPr/>
        </p:nvSpPr>
        <p:spPr>
          <a:xfrm>
            <a:off x="7955279" y="3474720"/>
            <a:ext cx="3200400" cy="182880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sz="1400" b="1">
                <a:solidFill>
                  <a:srgbClr val="FFFFFF"/>
                </a:solidFill>
              </a:defRPr>
            </a:pPr>
            <a:r>
              <a:t>⚡ Sub-100ms Performance</a:t>
            </a:r>
          </a:p>
          <a:p>
            <a:pPr>
              <a:defRPr sz="1100">
                <a:solidFill>
                  <a:srgbClr val="CBD5E1"/>
                </a:solidFill>
              </a:defRPr>
            </a:pPr>
            <a:r>
              <a:t>Schedules 4,000+ students and 52 courses into 13 slots in milliseconds</a:t>
            </a:r>
          </a:p>
        </p:txBody>
      </p:sp>
      <p:sp>
        <p:nvSpPr>
          <p:cNvPr id="8" name="TextBox 7"/>
          <p:cNvSpPr txBox="1"/>
          <p:nvPr/>
        </p:nvSpPr>
        <p:spPr>
          <a:xfrm>
            <a:off x="1097280" y="5669280"/>
            <a:ext cx="10058400" cy="548640"/>
          </a:xfrm>
          <a:prstGeom prst="rect">
            <a:avLst/>
          </a:prstGeom>
          <a:noFill/>
        </p:spPr>
        <p:txBody>
          <a:bodyPr wrap="none">
            <a:spAutoFit/>
          </a:bodyPr>
          <a:lstStyle/>
          <a:p>
            <a:pPr>
              <a:defRPr sz="1200">
                <a:solidFill>
                  <a:srgbClr val="94A3B8"/>
                </a:solidFill>
              </a:defRPr>
            </a:pPr>
            <a:r>
              <a:t>Developed by Team Infinite Innovators   |   Full-Stack Implementation: Python FastAPI • Node.js Express • React 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132B"/>
        </a:solidFill>
        <a:effectLst/>
      </p:bgPr>
    </p:bg>
    <p:spTree>
      <p:nvGrpSpPr>
        <p:cNvPr id="1" name=""/>
        <p:cNvGrpSpPr/>
        <p:nvPr/>
      </p:nvGrpSpPr>
      <p:grpSpPr/>
      <p:sp>
        <p:nvSpPr>
          <p:cNvPr id="2" name="TextBox 1"/>
          <p:cNvSpPr txBox="1"/>
          <p:nvPr/>
        </p:nvSpPr>
        <p:spPr>
          <a:xfrm>
            <a:off x="731520" y="365760"/>
            <a:ext cx="7315200" cy="365760"/>
          </a:xfrm>
          <a:prstGeom prst="rect">
            <a:avLst/>
          </a:prstGeom>
          <a:noFill/>
        </p:spPr>
        <p:txBody>
          <a:bodyPr wrap="square">
            <a:spAutoFit/>
          </a:bodyPr>
          <a:lstStyle/>
          <a:p>
            <a:pPr>
              <a:defRPr sz="1100" b="1">
                <a:solidFill>
                  <a:srgbClr val="38BDF8"/>
                </a:solidFill>
              </a:defRPr>
            </a:pPr>
            <a:r>
              <a:t>■  CONTEXT &amp; PAIN POINTS</a:t>
            </a:r>
          </a:p>
        </p:txBody>
      </p:sp>
      <p:sp>
        <p:nvSpPr>
          <p:cNvPr id="3" name="TextBox 2"/>
          <p:cNvSpPr txBox="1"/>
          <p:nvPr/>
        </p:nvSpPr>
        <p:spPr>
          <a:xfrm>
            <a:off x="731520" y="640080"/>
            <a:ext cx="10698480" cy="731520"/>
          </a:xfrm>
          <a:prstGeom prst="rect">
            <a:avLst/>
          </a:prstGeom>
          <a:noFill/>
        </p:spPr>
        <p:txBody>
          <a:bodyPr wrap="square">
            <a:spAutoFit/>
          </a:bodyPr>
          <a:lstStyle/>
          <a:p>
            <a:pPr>
              <a:defRPr sz="2600" b="1">
                <a:solidFill>
                  <a:srgbClr val="FFFFFF"/>
                </a:solidFill>
              </a:defRPr>
            </a:pPr>
            <a:r>
              <a:t>The University Exam Timetabling Crisis</a:t>
            </a:r>
          </a:p>
        </p:txBody>
      </p:sp>
      <p:sp>
        <p:nvSpPr>
          <p:cNvPr id="4" name="TextBox 3"/>
          <p:cNvSpPr txBox="1"/>
          <p:nvPr/>
        </p:nvSpPr>
        <p:spPr>
          <a:xfrm>
            <a:off x="731520" y="1280160"/>
            <a:ext cx="10698480" cy="365760"/>
          </a:xfrm>
          <a:prstGeom prst="rect">
            <a:avLst/>
          </a:prstGeom>
          <a:noFill/>
        </p:spPr>
        <p:txBody>
          <a:bodyPr wrap="square">
            <a:spAutoFit/>
          </a:bodyPr>
          <a:lstStyle/>
          <a:p>
            <a:pPr>
              <a:defRPr sz="1300">
                <a:solidFill>
                  <a:srgbClr val="94A3B8"/>
                </a:solidFill>
              </a:defRPr>
            </a:pPr>
            <a:r>
              <a:t>Why manual and naive spreadsheet scheduling fails at modern collegiate scale</a:t>
            </a:r>
          </a:p>
        </p:txBody>
      </p:sp>
      <p:sp>
        <p:nvSpPr>
          <p:cNvPr id="5" name="Rounded Rectangle 4"/>
          <p:cNvSpPr/>
          <p:nvPr/>
        </p:nvSpPr>
        <p:spPr>
          <a:xfrm>
            <a:off x="731520" y="1828800"/>
            <a:ext cx="3429000" cy="4297680"/>
          </a:xfrm>
          <a:prstGeom prst="roundRect">
            <a:avLst/>
          </a:prstGeom>
          <a:solidFill>
            <a:srgbClr val="1E293B"/>
          </a:solidFill>
          <a:ln w="1905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200"/>
              </a:spcAft>
              <a:defRPr sz="1500" b="1">
                <a:solidFill>
                  <a:srgbClr val="F43F5E"/>
                </a:solidFill>
              </a:defRPr>
            </a:pPr>
            <a:r>
              <a:t>1. Cross-Disciplinary Clashes</a:t>
            </a:r>
          </a:p>
          <a:p>
            <a:pPr>
              <a:spcAft>
                <a:spcPts val="1400"/>
              </a:spcAft>
              <a:defRPr sz="1200">
                <a:solidFill>
                  <a:srgbClr val="CBD5E1"/>
                </a:solidFill>
              </a:defRPr>
            </a:pPr>
            <a:r>
              <a:t>With interdisciplinary electives, minors, and open credits (e.g. CSE students taking Advanced Calculus or Physics minors), students are frequently assigned two or three exams in the same time slot, leading to stress, clashes, and rescheduling chaos.</a:t>
            </a:r>
          </a:p>
        </p:txBody>
      </p:sp>
      <p:sp>
        <p:nvSpPr>
          <p:cNvPr id="6" name="Rounded Rectangle 5"/>
          <p:cNvSpPr/>
          <p:nvPr/>
        </p:nvSpPr>
        <p:spPr>
          <a:xfrm>
            <a:off x="4343400" y="1828800"/>
            <a:ext cx="3429000" cy="4297680"/>
          </a:xfrm>
          <a:prstGeom prst="roundRect">
            <a:avLst/>
          </a:prstGeom>
          <a:solidFill>
            <a:srgbClr val="1E293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200"/>
              </a:spcAft>
              <a:defRPr sz="1500" b="1">
                <a:solidFill>
                  <a:srgbClr val="F59E0B"/>
                </a:solidFill>
              </a:defRPr>
            </a:pPr>
            <a:r>
              <a:t>2. Campus Resource Fragmentation</a:t>
            </a:r>
          </a:p>
          <a:p>
            <a:pPr>
              <a:spcAft>
                <a:spcPts val="1400"/>
              </a:spcAft>
              <a:defRPr sz="1200">
                <a:solidFill>
                  <a:srgbClr val="CBD5E1"/>
                </a:solidFill>
              </a:defRPr>
            </a:pPr>
            <a:r>
              <a:t>Colleges operate hundreds of classrooms and labs across multiple multi-story blocks. Without algorithmic spatial packing, examination halls are either overbooked or severely underutilized, requiring ad-hoc relocations on exam day.</a:t>
            </a:r>
          </a:p>
        </p:txBody>
      </p:sp>
      <p:sp>
        <p:nvSpPr>
          <p:cNvPr id="7" name="Rounded Rectangle 6"/>
          <p:cNvSpPr/>
          <p:nvPr/>
        </p:nvSpPr>
        <p:spPr>
          <a:xfrm>
            <a:off x="7955280" y="1828800"/>
            <a:ext cx="3429000" cy="429768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1200"/>
              </a:spcAft>
              <a:defRPr sz="1500" b="1">
                <a:solidFill>
                  <a:srgbClr val="38BDF8"/>
                </a:solidFill>
              </a:defRPr>
            </a:pPr>
            <a:r>
              <a:t>3. Administrative Overhead &amp; Delays</a:t>
            </a:r>
          </a:p>
          <a:p>
            <a:pPr>
              <a:spcAft>
                <a:spcPts val="1400"/>
              </a:spcAft>
              <a:defRPr sz="1200">
                <a:solidFill>
                  <a:srgbClr val="CBD5E1"/>
                </a:solidFill>
              </a:defRPr>
            </a:pPr>
            <a:r>
              <a:t>Academic deans and scheduling committees spend weeks attempting manual constraint matching. The underlying problem is NP-Complete; human intuition simply cannot compute the global chromatic minimum without algorithmic assistance.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132B"/>
        </a:solidFill>
        <a:effectLst/>
      </p:bgPr>
    </p:bg>
    <p:spTree>
      <p:nvGrpSpPr>
        <p:cNvPr id="1" name=""/>
        <p:cNvGrpSpPr/>
        <p:nvPr/>
      </p:nvGrpSpPr>
      <p:grpSpPr/>
      <p:sp>
        <p:nvSpPr>
          <p:cNvPr id="2" name="TextBox 1"/>
          <p:cNvSpPr txBox="1"/>
          <p:nvPr/>
        </p:nvSpPr>
        <p:spPr>
          <a:xfrm>
            <a:off x="731520" y="365760"/>
            <a:ext cx="7315200" cy="365760"/>
          </a:xfrm>
          <a:prstGeom prst="rect">
            <a:avLst/>
          </a:prstGeom>
          <a:noFill/>
        </p:spPr>
        <p:txBody>
          <a:bodyPr wrap="square">
            <a:spAutoFit/>
          </a:bodyPr>
          <a:lstStyle/>
          <a:p>
            <a:pPr>
              <a:defRPr sz="1100" b="1">
                <a:solidFill>
                  <a:srgbClr val="38BDF8"/>
                </a:solidFill>
              </a:defRPr>
            </a:pPr>
            <a:r>
              <a:t>■  MATHEMATICAL FORMULATION</a:t>
            </a:r>
          </a:p>
        </p:txBody>
      </p:sp>
      <p:sp>
        <p:nvSpPr>
          <p:cNvPr id="3" name="TextBox 2"/>
          <p:cNvSpPr txBox="1"/>
          <p:nvPr/>
        </p:nvSpPr>
        <p:spPr>
          <a:xfrm>
            <a:off x="731520" y="640080"/>
            <a:ext cx="10698480" cy="731520"/>
          </a:xfrm>
          <a:prstGeom prst="rect">
            <a:avLst/>
          </a:prstGeom>
          <a:noFill/>
        </p:spPr>
        <p:txBody>
          <a:bodyPr wrap="square">
            <a:spAutoFit/>
          </a:bodyPr>
          <a:lstStyle/>
          <a:p>
            <a:pPr>
              <a:defRPr sz="2600" b="1">
                <a:solidFill>
                  <a:srgbClr val="FFFFFF"/>
                </a:solidFill>
              </a:defRPr>
            </a:pPr>
            <a:r>
              <a:t>Welsh-Powell Graph Coloring: The Math Engine</a:t>
            </a:r>
          </a:p>
        </p:txBody>
      </p:sp>
      <p:sp>
        <p:nvSpPr>
          <p:cNvPr id="4" name="TextBox 3"/>
          <p:cNvSpPr txBox="1"/>
          <p:nvPr/>
        </p:nvSpPr>
        <p:spPr>
          <a:xfrm>
            <a:off x="731520" y="1280160"/>
            <a:ext cx="10698480" cy="365760"/>
          </a:xfrm>
          <a:prstGeom prst="rect">
            <a:avLst/>
          </a:prstGeom>
          <a:noFill/>
        </p:spPr>
        <p:txBody>
          <a:bodyPr wrap="square">
            <a:spAutoFit/>
          </a:bodyPr>
          <a:lstStyle/>
          <a:p>
            <a:pPr>
              <a:defRPr sz="1300">
                <a:solidFill>
                  <a:srgbClr val="94A3B8"/>
                </a:solidFill>
              </a:defRPr>
            </a:pPr>
            <a:r>
              <a:t>Transforming academic scheduling into a graph chromatic number optimization</a:t>
            </a:r>
          </a:p>
        </p:txBody>
      </p:sp>
      <p:sp>
        <p:nvSpPr>
          <p:cNvPr id="5" name="Rounded Rectangle 4"/>
          <p:cNvSpPr/>
          <p:nvPr/>
        </p:nvSpPr>
        <p:spPr>
          <a:xfrm>
            <a:off x="731520" y="1828800"/>
            <a:ext cx="5212080" cy="42976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800"/>
              </a:spcAft>
              <a:defRPr sz="1400" b="1">
                <a:solidFill>
                  <a:srgbClr val="38BDF8"/>
                </a:solidFill>
              </a:defRPr>
            </a:pPr>
            <a:r>
              <a:t>Conflict Graph G = (V, E, W)</a:t>
            </a:r>
          </a:p>
          <a:p>
            <a:pPr>
              <a:spcAft>
                <a:spcPts val="600"/>
              </a:spcAft>
            </a:pPr>
            <a:r>
              <a:rPr b="1" sz="1150">
                <a:solidFill>
                  <a:srgbClr val="FFFFFF"/>
                </a:solidFill>
              </a:rPr>
              <a:t>•  Vertices V: </a:t>
            </a:r>
            <a:r>
              <a:rPr b="0" sz="1150">
                <a:solidFill>
                  <a:srgbClr val="CBD5E1"/>
                </a:solidFill>
              </a:rPr>
              <a:t>Each distinct course code (e.g. MAT2001, CSE2001) forms an independent vertex.</a:t>
            </a:r>
          </a:p>
          <a:p>
            <a:pPr>
              <a:spcAft>
                <a:spcPts val="600"/>
              </a:spcAft>
            </a:pPr>
            <a:r>
              <a:rPr b="1" sz="1150">
                <a:solidFill>
                  <a:srgbClr val="FFFFFF"/>
                </a:solidFill>
              </a:rPr>
              <a:t>•  Edges E: </a:t>
            </a:r>
            <a:r>
              <a:rPr b="0" sz="1150">
                <a:solidFill>
                  <a:srgbClr val="CBD5E1"/>
                </a:solidFill>
              </a:rPr>
              <a:t>An undirected edge (u, v) exists if at least one student is enrolled in both course u and course v.</a:t>
            </a:r>
          </a:p>
          <a:p>
            <a:pPr>
              <a:spcAft>
                <a:spcPts val="600"/>
              </a:spcAft>
            </a:pPr>
            <a:r>
              <a:rPr b="1" sz="1150">
                <a:solidFill>
                  <a:srgbClr val="FFFFFF"/>
                </a:solidFill>
              </a:rPr>
              <a:t>•  Edge Weights W: </a:t>
            </a:r>
            <a:r>
              <a:rPr b="0" sz="1150">
                <a:solidFill>
                  <a:srgbClr val="CBD5E1"/>
                </a:solidFill>
              </a:rPr>
              <a:t>Weight corresponds to the exact count of shared students — quantifying conflict intensity.</a:t>
            </a:r>
          </a:p>
          <a:p>
            <a:pPr>
              <a:spcAft>
                <a:spcPts val="600"/>
              </a:spcAft>
            </a:pPr>
            <a:r>
              <a:rPr b="1" sz="1150">
                <a:solidFill>
                  <a:srgbClr val="FFFFFF"/>
                </a:solidFill>
              </a:rPr>
              <a:t>•  Chromatic Number χ(G): </a:t>
            </a:r>
            <a:r>
              <a:rPr b="0" sz="1150">
                <a:solidFill>
                  <a:srgbClr val="CBD5E1"/>
                </a:solidFill>
              </a:rPr>
              <a:t>The theoretical minimum colors needed to color G such that no adjacent vertices share a color.</a:t>
            </a:r>
          </a:p>
        </p:txBody>
      </p:sp>
      <p:sp>
        <p:nvSpPr>
          <p:cNvPr id="6" name="Rounded Rectangle 5"/>
          <p:cNvSpPr/>
          <p:nvPr/>
        </p:nvSpPr>
        <p:spPr>
          <a:xfrm>
            <a:off x="6217920" y="1828800"/>
            <a:ext cx="5212080" cy="42976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800"/>
              </a:spcAft>
              <a:defRPr sz="1400" b="1">
                <a:solidFill>
                  <a:srgbClr val="38BDF8"/>
                </a:solidFill>
              </a:defRPr>
            </a:pPr>
            <a:r>
              <a:t>Welsh-Powell Execution Steps</a:t>
            </a:r>
          </a:p>
          <a:p>
            <a:pPr>
              <a:spcAft>
                <a:spcPts val="600"/>
              </a:spcAft>
            </a:pPr>
            <a:r>
              <a:rPr b="1" sz="1100">
                <a:solidFill>
                  <a:srgbClr val="FFFFFF"/>
                </a:solidFill>
              </a:rPr>
              <a:t>•  Step 1: Degree Sorting: </a:t>
            </a:r>
            <a:r>
              <a:rPr b="0" sz="1100">
                <a:solidFill>
                  <a:srgbClr val="CBD5E1"/>
                </a:solidFill>
              </a:rPr>
              <a:t>Calculate degree deg(v) for each course (number of conflicting courses). Sort all vertices in descending order of degree.</a:t>
            </a:r>
          </a:p>
          <a:p>
            <a:pPr>
              <a:spcAft>
                <a:spcPts val="600"/>
              </a:spcAft>
            </a:pPr>
            <a:r>
              <a:rPr b="1" sz="1100">
                <a:solidFill>
                  <a:srgbClr val="FFFFFF"/>
                </a:solidFill>
              </a:rPr>
              <a:t>•  Step 2: Assign Initial Color: </a:t>
            </a:r>
            <a:r>
              <a:rPr b="0" sz="1100">
                <a:solidFill>
                  <a:srgbClr val="CBD5E1"/>
                </a:solidFill>
              </a:rPr>
              <a:t>Select the highest-degree uncolored course and assign it Slot k (starting at Slot 1).</a:t>
            </a:r>
          </a:p>
          <a:p>
            <a:pPr>
              <a:spcAft>
                <a:spcPts val="600"/>
              </a:spcAft>
            </a:pPr>
            <a:r>
              <a:rPr b="1" sz="1100">
                <a:solidFill>
                  <a:srgbClr val="FFFFFF"/>
                </a:solidFill>
              </a:rPr>
              <a:t>•  Step 3: Greedy Color Propagation: </a:t>
            </a:r>
            <a:r>
              <a:rPr b="0" sz="1100">
                <a:solidFill>
                  <a:srgbClr val="CBD5E1"/>
                </a:solidFill>
              </a:rPr>
              <a:t>Iterate through remaining uncolored courses in descending order. Color each course with Slot k if it has no conflict edge to already colored nodes in Slot k.</a:t>
            </a:r>
          </a:p>
          <a:p>
            <a:pPr>
              <a:spcAft>
                <a:spcPts val="600"/>
              </a:spcAft>
            </a:pPr>
            <a:r>
              <a:rPr b="1" sz="1100">
                <a:solidFill>
                  <a:srgbClr val="FFFFFF"/>
                </a:solidFill>
              </a:rPr>
              <a:t>•  Step 4: Increment &amp; Repeat: </a:t>
            </a:r>
            <a:r>
              <a:rPr b="0" sz="1100">
                <a:solidFill>
                  <a:srgbClr val="CBD5E1"/>
                </a:solidFill>
              </a:rPr>
              <a:t>Advance to Slot k+1 and repeat until all courses are assigned. Chromatic number χ(G) = total slots used.</a:t>
            </a:r>
          </a:p>
          <a:p>
            <a:pPr>
              <a:spcAft>
                <a:spcPts val="600"/>
              </a:spcAft>
            </a:pPr>
            <a:r>
              <a:rPr b="1" sz="1100">
                <a:solidFill>
                  <a:srgbClr val="FFFFFF"/>
                </a:solidFill>
              </a:rPr>
              <a:t>•  Mathematical Proof: </a:t>
            </a:r>
            <a:r>
              <a:rPr b="0" sz="1100">
                <a:solidFill>
                  <a:srgbClr val="CBD5E1"/>
                </a:solidFill>
              </a:rPr>
              <a:t>Since no two adjacent vertices receive identical colors, ZERO student exam clashes are mathematically guaranteed!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132B"/>
        </a:solidFill>
        <a:effectLst/>
      </p:bgPr>
    </p:bg>
    <p:spTree>
      <p:nvGrpSpPr>
        <p:cNvPr id="1" name=""/>
        <p:cNvGrpSpPr/>
        <p:nvPr/>
      </p:nvGrpSpPr>
      <p:grpSpPr/>
      <p:sp>
        <p:nvSpPr>
          <p:cNvPr id="2" name="TextBox 1"/>
          <p:cNvSpPr txBox="1"/>
          <p:nvPr/>
        </p:nvSpPr>
        <p:spPr>
          <a:xfrm>
            <a:off x="731520" y="365760"/>
            <a:ext cx="7315200" cy="365760"/>
          </a:xfrm>
          <a:prstGeom prst="rect">
            <a:avLst/>
          </a:prstGeom>
          <a:noFill/>
        </p:spPr>
        <p:txBody>
          <a:bodyPr wrap="square">
            <a:spAutoFit/>
          </a:bodyPr>
          <a:lstStyle/>
          <a:p>
            <a:pPr>
              <a:defRPr sz="1100" b="1">
                <a:solidFill>
                  <a:srgbClr val="38BDF8"/>
                </a:solidFill>
              </a:defRPr>
            </a:pPr>
            <a:r>
              <a:t>■  GRAPH THEORY IN ACTION</a:t>
            </a:r>
          </a:p>
        </p:txBody>
      </p:sp>
      <p:sp>
        <p:nvSpPr>
          <p:cNvPr id="3" name="TextBox 2"/>
          <p:cNvSpPr txBox="1"/>
          <p:nvPr/>
        </p:nvSpPr>
        <p:spPr>
          <a:xfrm>
            <a:off x="731520" y="640080"/>
            <a:ext cx="10698480" cy="731520"/>
          </a:xfrm>
          <a:prstGeom prst="rect">
            <a:avLst/>
          </a:prstGeom>
          <a:noFill/>
        </p:spPr>
        <p:txBody>
          <a:bodyPr wrap="square">
            <a:spAutoFit/>
          </a:bodyPr>
          <a:lstStyle/>
          <a:p>
            <a:pPr>
              <a:defRPr sz="2600" b="1">
                <a:solidFill>
                  <a:srgbClr val="FFFFFF"/>
                </a:solidFill>
              </a:defRPr>
            </a:pPr>
            <a:r>
              <a:t>Interactive Conflict Graph &amp; Mathematical Proof</a:t>
            </a:r>
          </a:p>
        </p:txBody>
      </p:sp>
      <p:sp>
        <p:nvSpPr>
          <p:cNvPr id="4" name="TextBox 3"/>
          <p:cNvSpPr txBox="1"/>
          <p:nvPr/>
        </p:nvSpPr>
        <p:spPr>
          <a:xfrm>
            <a:off x="731520" y="1280160"/>
            <a:ext cx="10698480" cy="365760"/>
          </a:xfrm>
          <a:prstGeom prst="rect">
            <a:avLst/>
          </a:prstGeom>
          <a:noFill/>
        </p:spPr>
        <p:txBody>
          <a:bodyPr wrap="square">
            <a:spAutoFit/>
          </a:bodyPr>
          <a:lstStyle/>
          <a:p>
            <a:pPr>
              <a:defRPr sz="1300">
                <a:solidFill>
                  <a:srgbClr val="94A3B8"/>
                </a:solidFill>
              </a:defRPr>
            </a:pPr>
            <a:r>
              <a:t>Visualizing course dependencies, degree intensities, and color-coded exam slots</a:t>
            </a:r>
          </a:p>
        </p:txBody>
      </p:sp>
      <p:pic>
        <p:nvPicPr>
          <p:cNvPr id="5" name="Picture 4" descr="conflict_graph.png"/>
          <p:cNvPicPr>
            <a:picLocks noChangeAspect="1"/>
          </p:cNvPicPr>
          <p:nvPr/>
        </p:nvPicPr>
        <p:blipFill>
          <a:blip r:embed="rId2"/>
          <a:stretch>
            <a:fillRect/>
          </a:stretch>
        </p:blipFill>
        <p:spPr>
          <a:xfrm>
            <a:off x="731520" y="1828800"/>
            <a:ext cx="6217920" cy="4019665"/>
          </a:xfrm>
          <a:prstGeom prst="rect">
            <a:avLst/>
          </a:prstGeom>
        </p:spPr>
      </p:pic>
      <p:sp>
        <p:nvSpPr>
          <p:cNvPr id="6" name="Rounded Rectangle 5"/>
          <p:cNvSpPr/>
          <p:nvPr/>
        </p:nvSpPr>
        <p:spPr>
          <a:xfrm>
            <a:off x="7132320" y="1828800"/>
            <a:ext cx="4297680" cy="42976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800"/>
              </a:spcAft>
              <a:defRPr sz="1400" b="1">
                <a:solidFill>
                  <a:srgbClr val="38BDF8"/>
                </a:solidFill>
              </a:defRPr>
            </a:pPr>
            <a:r>
              <a:t>Algorithmic Insights</a:t>
            </a:r>
          </a:p>
          <a:p>
            <a:pPr>
              <a:spcAft>
                <a:spcPts val="600"/>
              </a:spcAft>
            </a:pPr>
            <a:r>
              <a:rPr b="1" sz="1100">
                <a:solidFill>
                  <a:srgbClr val="FFFFFF"/>
                </a:solidFill>
              </a:rPr>
              <a:t>•  Independent Sets: </a:t>
            </a:r>
            <a:r>
              <a:rPr b="0" sz="1100">
                <a:solidFill>
                  <a:srgbClr val="CBD5E1"/>
                </a:solidFill>
              </a:rPr>
              <a:t>Courses assigned to the same color/slot form an independent set in G — meaning zero edges exist between them.</a:t>
            </a:r>
          </a:p>
          <a:p>
            <a:pPr>
              <a:spcAft>
                <a:spcPts val="600"/>
              </a:spcAft>
            </a:pPr>
            <a:r>
              <a:rPr b="1" sz="1100">
                <a:solidFill>
                  <a:srgbClr val="FFFFFF"/>
                </a:solidFill>
              </a:rPr>
              <a:t>•  Color = Time Slot: </a:t>
            </a:r>
            <a:r>
              <a:rPr b="0" sz="1100">
                <a:solidFill>
                  <a:srgbClr val="CBD5E1"/>
                </a:solidFill>
              </a:rPr>
              <a:t>Blue = Slot 1 (Day 1 AM), Red = Slot 2 (Day 1 PM), Green = Slot 3 (Day 2 AM), Amber = Slot 4 (Day 2 PM).</a:t>
            </a:r>
          </a:p>
          <a:p>
            <a:pPr>
              <a:spcAft>
                <a:spcPts val="600"/>
              </a:spcAft>
            </a:pPr>
            <a:r>
              <a:rPr b="1" sz="1100">
                <a:solidFill>
                  <a:srgbClr val="FFFFFF"/>
                </a:solidFill>
              </a:rPr>
              <a:t>•  Dense Inter-Disciplinary Core: </a:t>
            </a:r>
            <a:r>
              <a:rPr b="0" sz="1100">
                <a:solidFill>
                  <a:srgbClr val="CBD5E1"/>
                </a:solidFill>
              </a:rPr>
              <a:t>High-degree nodes like MAT2001 (Calculus) and CSE2001 (Data Structures) are colored first, anchoring subsequent slot assignments.</a:t>
            </a:r>
          </a:p>
          <a:p>
            <a:pPr>
              <a:spcAft>
                <a:spcPts val="600"/>
              </a:spcAft>
            </a:pPr>
            <a:r>
              <a:rPr b="1" sz="1100">
                <a:solidFill>
                  <a:srgbClr val="FFFFFF"/>
                </a:solidFill>
              </a:rPr>
              <a:t>•  Visual Audit for Deans: </a:t>
            </a:r>
            <a:r>
              <a:rPr b="0" sz="1100">
                <a:solidFill>
                  <a:srgbClr val="CBD5E1"/>
                </a:solidFill>
              </a:rPr>
              <a:t>University administrators can immediately verify zero clash by confirming no adjacent nodes share a color.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132B"/>
        </a:solidFill>
        <a:effectLst/>
      </p:bgPr>
    </p:bg>
    <p:spTree>
      <p:nvGrpSpPr>
        <p:cNvPr id="1" name=""/>
        <p:cNvGrpSpPr/>
        <p:nvPr/>
      </p:nvGrpSpPr>
      <p:grpSpPr/>
      <p:sp>
        <p:nvSpPr>
          <p:cNvPr id="2" name="TextBox 1"/>
          <p:cNvSpPr txBox="1"/>
          <p:nvPr/>
        </p:nvSpPr>
        <p:spPr>
          <a:xfrm>
            <a:off x="731520" y="365760"/>
            <a:ext cx="7315200" cy="365760"/>
          </a:xfrm>
          <a:prstGeom prst="rect">
            <a:avLst/>
          </a:prstGeom>
          <a:noFill/>
        </p:spPr>
        <p:txBody>
          <a:bodyPr wrap="square">
            <a:spAutoFit/>
          </a:bodyPr>
          <a:lstStyle/>
          <a:p>
            <a:pPr>
              <a:defRPr sz="1100" b="1">
                <a:solidFill>
                  <a:srgbClr val="38BDF8"/>
                </a:solidFill>
              </a:defRPr>
            </a:pPr>
            <a:r>
              <a:t>■  SPATIAL RESOURCE ALLOCATION</a:t>
            </a:r>
          </a:p>
        </p:txBody>
      </p:sp>
      <p:sp>
        <p:nvSpPr>
          <p:cNvPr id="3" name="TextBox 2"/>
          <p:cNvSpPr txBox="1"/>
          <p:nvPr/>
        </p:nvSpPr>
        <p:spPr>
          <a:xfrm>
            <a:off x="731520" y="640080"/>
            <a:ext cx="10698480" cy="731520"/>
          </a:xfrm>
          <a:prstGeom prst="rect">
            <a:avLst/>
          </a:prstGeom>
          <a:noFill/>
        </p:spPr>
        <p:txBody>
          <a:bodyPr wrap="square">
            <a:spAutoFit/>
          </a:bodyPr>
          <a:lstStyle/>
          <a:p>
            <a:pPr>
              <a:defRPr sz="2600" b="1">
                <a:solidFill>
                  <a:srgbClr val="FFFFFF"/>
                </a:solidFill>
              </a:defRPr>
            </a:pPr>
            <a:r>
              <a:t>Greedy Bin-Packing Across 208 Campus Rooms</a:t>
            </a:r>
          </a:p>
        </p:txBody>
      </p:sp>
      <p:sp>
        <p:nvSpPr>
          <p:cNvPr id="4" name="TextBox 3"/>
          <p:cNvSpPr txBox="1"/>
          <p:nvPr/>
        </p:nvSpPr>
        <p:spPr>
          <a:xfrm>
            <a:off x="731520" y="1280160"/>
            <a:ext cx="10698480" cy="365760"/>
          </a:xfrm>
          <a:prstGeom prst="rect">
            <a:avLst/>
          </a:prstGeom>
          <a:noFill/>
        </p:spPr>
        <p:txBody>
          <a:bodyPr wrap="square">
            <a:spAutoFit/>
          </a:bodyPr>
          <a:lstStyle/>
          <a:p>
            <a:pPr>
              <a:defRPr sz="1300">
                <a:solidFill>
                  <a:srgbClr val="94A3B8"/>
                </a:solidFill>
              </a:defRPr>
            </a:pPr>
            <a:r>
              <a:t>Translating mathematical exam slots into real-world physical seating across campus blocks</a:t>
            </a:r>
          </a:p>
        </p:txBody>
      </p:sp>
      <p:sp>
        <p:nvSpPr>
          <p:cNvPr id="5" name="Rounded Rectangle 4"/>
          <p:cNvSpPr/>
          <p:nvPr/>
        </p:nvSpPr>
        <p:spPr>
          <a:xfrm>
            <a:off x="731520" y="1828800"/>
            <a:ext cx="3429000" cy="301752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38BDF8"/>
                </a:solidFill>
              </a:defRPr>
            </a:pPr>
            <a:r>
              <a:t>Central Block (CB)</a:t>
            </a:r>
          </a:p>
          <a:p>
            <a:pPr>
              <a:spcAft>
                <a:spcPts val="800"/>
              </a:spcAft>
              <a:defRPr sz="1100">
                <a:solidFill>
                  <a:srgbClr val="94A3B8"/>
                </a:solidFill>
              </a:defRPr>
            </a:pPr>
            <a:r>
              <a:t>5 Floors (F1 - F5)</a:t>
            </a:r>
          </a:p>
          <a:p>
            <a:pPr>
              <a:defRPr sz="1100">
                <a:solidFill>
                  <a:srgbClr val="CBD5E1"/>
                </a:solidFill>
              </a:defRPr>
            </a:pPr>
            <a:r>
              <a:t>50 Classrooms @ 70 cap</a:t>
            </a:r>
            <a:br/>
            <a:r>
              <a:t>30 Computer Labs @ 35 cap</a:t>
            </a:r>
            <a:br/>
            <a:br/>
            <a:r>
              <a:t>Total Rooms: 80</a:t>
            </a:r>
            <a:br/>
            <a:r>
              <a:t>Total Capacity: 4,550 seats</a:t>
            </a:r>
            <a:br/>
            <a:br/>
            <a:r>
              <a:t>Priority: First campus block allocated for all morning/afternoon slots.</a:t>
            </a:r>
          </a:p>
        </p:txBody>
      </p:sp>
      <p:sp>
        <p:nvSpPr>
          <p:cNvPr id="6" name="Rounded Rectangle 5"/>
          <p:cNvSpPr/>
          <p:nvPr/>
        </p:nvSpPr>
        <p:spPr>
          <a:xfrm>
            <a:off x="4343400" y="1828800"/>
            <a:ext cx="3429000" cy="3017520"/>
          </a:xfrm>
          <a:prstGeom prst="roundRect">
            <a:avLst/>
          </a:prstGeom>
          <a:solidFill>
            <a:srgbClr val="1E293B"/>
          </a:solidFill>
          <a:ln w="19050">
            <a:solidFill>
              <a:srgbClr val="818CF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818CF8"/>
                </a:solidFill>
              </a:defRPr>
            </a:pPr>
            <a:r>
              <a:t>Academic Block 1 (AB1)</a:t>
            </a:r>
          </a:p>
          <a:p>
            <a:pPr>
              <a:spcAft>
                <a:spcPts val="800"/>
              </a:spcAft>
              <a:defRPr sz="1100">
                <a:solidFill>
                  <a:srgbClr val="94A3B8"/>
                </a:solidFill>
              </a:defRPr>
            </a:pPr>
            <a:r>
              <a:t>4 Floors (F1 - F4)</a:t>
            </a:r>
          </a:p>
          <a:p>
            <a:pPr>
              <a:defRPr sz="1100">
                <a:solidFill>
                  <a:srgbClr val="CBD5E1"/>
                </a:solidFill>
              </a:defRPr>
            </a:pPr>
            <a:r>
              <a:t>40 Classrooms @ 70 cap</a:t>
            </a:r>
            <a:br/>
            <a:r>
              <a:t>24 Computer Labs @ 35 cap</a:t>
            </a:r>
            <a:br/>
            <a:br/>
            <a:r>
              <a:t>Total Rooms: 64</a:t>
            </a:r>
            <a:br/>
            <a:r>
              <a:t>Total Capacity: 3,640 seats</a:t>
            </a:r>
            <a:br/>
            <a:br/>
            <a:r>
              <a:t>Priority: Seamless overflow from CB Floor 5 to AB1 Floor 1.</a:t>
            </a:r>
          </a:p>
        </p:txBody>
      </p:sp>
      <p:sp>
        <p:nvSpPr>
          <p:cNvPr id="7" name="Rounded Rectangle 6"/>
          <p:cNvSpPr/>
          <p:nvPr/>
        </p:nvSpPr>
        <p:spPr>
          <a:xfrm>
            <a:off x="7955280" y="1828800"/>
            <a:ext cx="3429000" cy="3017520"/>
          </a:xfrm>
          <a:prstGeom prst="roundRect">
            <a:avLst/>
          </a:prstGeom>
          <a:solidFill>
            <a:srgbClr val="1E293B"/>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34D399"/>
                </a:solidFill>
              </a:defRPr>
            </a:pPr>
            <a:r>
              <a:t>Academic Block 2 (AB2)</a:t>
            </a:r>
          </a:p>
          <a:p>
            <a:pPr>
              <a:spcAft>
                <a:spcPts val="800"/>
              </a:spcAft>
              <a:defRPr sz="1100">
                <a:solidFill>
                  <a:srgbClr val="94A3B8"/>
                </a:solidFill>
              </a:defRPr>
            </a:pPr>
            <a:r>
              <a:t>4 Floors (F1 - F4)</a:t>
            </a:r>
          </a:p>
          <a:p>
            <a:pPr>
              <a:defRPr sz="1100">
                <a:solidFill>
                  <a:srgbClr val="CBD5E1"/>
                </a:solidFill>
              </a:defRPr>
            </a:pPr>
            <a:r>
              <a:t>40 Classrooms @ 70 cap</a:t>
            </a:r>
            <a:br/>
            <a:r>
              <a:t>24 Computer Labs @ 35 cap</a:t>
            </a:r>
            <a:br/>
            <a:br/>
            <a:r>
              <a:t>Total Rooms: 64</a:t>
            </a:r>
            <a:br/>
            <a:r>
              <a:t>Total Capacity: 3,640 seats</a:t>
            </a:r>
            <a:br/>
            <a:br/>
            <a:r>
              <a:t>Priority: Final tier campus block used for massive 2,000+ student slots.</a:t>
            </a:r>
          </a:p>
        </p:txBody>
      </p:sp>
      <p:sp>
        <p:nvSpPr>
          <p:cNvPr id="8" name="Rounded Rectangle 7"/>
          <p:cNvSpPr/>
          <p:nvPr/>
        </p:nvSpPr>
        <p:spPr>
          <a:xfrm>
            <a:off x="731520" y="5029200"/>
            <a:ext cx="10698480" cy="11887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1200" b="1">
                <a:solidFill>
                  <a:srgbClr val="F59E0B"/>
                </a:solidFill>
              </a:defRPr>
            </a:pPr>
            <a:r>
              <a:t>Spatial Bin-Packing (First-Fit Decreasing) &amp; Automated Invigilator Provisioning</a:t>
            </a:r>
          </a:p>
          <a:p>
            <a:pPr>
              <a:defRPr sz="1050">
                <a:solidFill>
                  <a:srgbClr val="CBD5E1"/>
                </a:solidFill>
              </a:defRPr>
            </a:pPr>
            <a:r>
              <a:t>• Classrooms are filled in orderly sequence (CB Floor 1→5, then AB1 1→4, then AB2 1→4) to keep branches clustered together.</a:t>
            </a:r>
            <a:br/>
            <a:r>
              <a:t>• Non-Overlapping Guarantee: Parallel courses in the same slot receive strictly disjoint rooms.</a:t>
            </a:r>
            <a:br/>
            <a:r>
              <a:t>• Invigilator Allocation: Automatically calculates exactly 1 invigilator per room assigned (e.g., Slot 7 with 42 rooms = 42 invigilators).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132B"/>
        </a:solidFill>
        <a:effectLst/>
      </p:bgPr>
    </p:bg>
    <p:spTree>
      <p:nvGrpSpPr>
        <p:cNvPr id="1" name=""/>
        <p:cNvGrpSpPr/>
        <p:nvPr/>
      </p:nvGrpSpPr>
      <p:grpSpPr/>
      <p:sp>
        <p:nvSpPr>
          <p:cNvPr id="2" name="TextBox 1"/>
          <p:cNvSpPr txBox="1"/>
          <p:nvPr/>
        </p:nvSpPr>
        <p:spPr>
          <a:xfrm>
            <a:off x="731520" y="365760"/>
            <a:ext cx="7315200" cy="365760"/>
          </a:xfrm>
          <a:prstGeom prst="rect">
            <a:avLst/>
          </a:prstGeom>
          <a:noFill/>
        </p:spPr>
        <p:txBody>
          <a:bodyPr wrap="square">
            <a:spAutoFit/>
          </a:bodyPr>
          <a:lstStyle/>
          <a:p>
            <a:pPr>
              <a:defRPr sz="1100" b="1">
                <a:solidFill>
                  <a:srgbClr val="38BDF8"/>
                </a:solidFill>
              </a:defRPr>
            </a:pPr>
            <a:r>
              <a:t>■  CAMPUS SPATIAL ANALYTICS</a:t>
            </a:r>
          </a:p>
        </p:txBody>
      </p:sp>
      <p:sp>
        <p:nvSpPr>
          <p:cNvPr id="3" name="TextBox 2"/>
          <p:cNvSpPr txBox="1"/>
          <p:nvPr/>
        </p:nvSpPr>
        <p:spPr>
          <a:xfrm>
            <a:off x="731520" y="640080"/>
            <a:ext cx="10698480" cy="731520"/>
          </a:xfrm>
          <a:prstGeom prst="rect">
            <a:avLst/>
          </a:prstGeom>
          <a:noFill/>
        </p:spPr>
        <p:txBody>
          <a:bodyPr wrap="square">
            <a:spAutoFit/>
          </a:bodyPr>
          <a:lstStyle/>
          <a:p>
            <a:pPr>
              <a:defRPr sz="2600" b="1">
                <a:solidFill>
                  <a:srgbClr val="FFFFFF"/>
                </a:solidFill>
              </a:defRPr>
            </a:pPr>
            <a:r>
              <a:t>Campus Seating Distribution &amp; Hall Allocation</a:t>
            </a:r>
          </a:p>
        </p:txBody>
      </p:sp>
      <p:sp>
        <p:nvSpPr>
          <p:cNvPr id="4" name="TextBox 3"/>
          <p:cNvSpPr txBox="1"/>
          <p:nvPr/>
        </p:nvSpPr>
        <p:spPr>
          <a:xfrm>
            <a:off x="731520" y="1280160"/>
            <a:ext cx="10698480" cy="365760"/>
          </a:xfrm>
          <a:prstGeom prst="rect">
            <a:avLst/>
          </a:prstGeom>
          <a:noFill/>
        </p:spPr>
        <p:txBody>
          <a:bodyPr wrap="square">
            <a:spAutoFit/>
          </a:bodyPr>
          <a:lstStyle/>
          <a:p>
            <a:pPr>
              <a:defRPr sz="1300">
                <a:solidFill>
                  <a:srgbClr val="94A3B8"/>
                </a:solidFill>
              </a:defRPr>
            </a:pPr>
            <a:r>
              <a:t>Empirical room inventory breakdown and slot-by-slot student distribution</a:t>
            </a:r>
          </a:p>
        </p:txBody>
      </p:sp>
      <p:pic>
        <p:nvPicPr>
          <p:cNvPr id="5" name="Picture 4" descr="campus_allocation.png"/>
          <p:cNvPicPr>
            <a:picLocks noChangeAspect="1"/>
          </p:cNvPicPr>
          <p:nvPr/>
        </p:nvPicPr>
        <p:blipFill>
          <a:blip r:embed="rId2"/>
          <a:stretch>
            <a:fillRect/>
          </a:stretch>
        </p:blipFill>
        <p:spPr>
          <a:xfrm>
            <a:off x="731520" y="1828800"/>
            <a:ext cx="7315200" cy="3344091"/>
          </a:xfrm>
          <a:prstGeom prst="rect">
            <a:avLst/>
          </a:prstGeom>
        </p:spPr>
      </p:pic>
      <p:sp>
        <p:nvSpPr>
          <p:cNvPr id="6" name="Rounded Rectangle 5"/>
          <p:cNvSpPr/>
          <p:nvPr/>
        </p:nvSpPr>
        <p:spPr>
          <a:xfrm>
            <a:off x="8321040" y="1828800"/>
            <a:ext cx="3108960" cy="201168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200" b="1">
                <a:solidFill>
                  <a:srgbClr val="38BDF8"/>
                </a:solidFill>
              </a:defRPr>
            </a:pPr>
            <a:r>
              <a:t>11,830 Seats</a:t>
            </a:r>
          </a:p>
          <a:p>
            <a:pPr>
              <a:defRPr sz="1100">
                <a:solidFill>
                  <a:srgbClr val="CBD5E1"/>
                </a:solidFill>
              </a:defRPr>
            </a:pPr>
            <a:r>
              <a:t>Total Campus Capacity</a:t>
            </a:r>
            <a:br/>
            <a:r>
              <a:t>Across 208 Rooms in 3 Blocks</a:t>
            </a:r>
          </a:p>
        </p:txBody>
      </p:sp>
      <p:sp>
        <p:nvSpPr>
          <p:cNvPr id="7" name="Rounded Rectangle 6"/>
          <p:cNvSpPr/>
          <p:nvPr/>
        </p:nvSpPr>
        <p:spPr>
          <a:xfrm>
            <a:off x="8321040" y="4114800"/>
            <a:ext cx="3108960" cy="2011680"/>
          </a:xfrm>
          <a:prstGeom prst="roundRect">
            <a:avLst/>
          </a:prstGeom>
          <a:solidFill>
            <a:srgbClr val="1E293B"/>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200" b="1">
                <a:solidFill>
                  <a:srgbClr val="34D399"/>
                </a:solidFill>
              </a:defRPr>
            </a:pPr>
            <a:r>
              <a:t>2,626 Peak</a:t>
            </a:r>
          </a:p>
          <a:p>
            <a:pPr>
              <a:defRPr sz="1100">
                <a:solidFill>
                  <a:srgbClr val="CBD5E1"/>
                </a:solidFill>
              </a:defRPr>
            </a:pPr>
            <a:r>
              <a:t>Max Concurrent Students (Slot 7)</a:t>
            </a:r>
            <a:br/>
            <a:r>
              <a:t>Comfortably utilizes ~22% of campus, leaving zero overflow.</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132B"/>
        </a:solidFill>
        <a:effectLst/>
      </p:bgPr>
    </p:bg>
    <p:spTree>
      <p:nvGrpSpPr>
        <p:cNvPr id="1" name=""/>
        <p:cNvGrpSpPr/>
        <p:nvPr/>
      </p:nvGrpSpPr>
      <p:grpSpPr/>
      <p:sp>
        <p:nvSpPr>
          <p:cNvPr id="2" name="TextBox 1"/>
          <p:cNvSpPr txBox="1"/>
          <p:nvPr/>
        </p:nvSpPr>
        <p:spPr>
          <a:xfrm>
            <a:off x="731520" y="365760"/>
            <a:ext cx="7315200" cy="365760"/>
          </a:xfrm>
          <a:prstGeom prst="rect">
            <a:avLst/>
          </a:prstGeom>
          <a:noFill/>
        </p:spPr>
        <p:txBody>
          <a:bodyPr wrap="square">
            <a:spAutoFit/>
          </a:bodyPr>
          <a:lstStyle/>
          <a:p>
            <a:pPr>
              <a:defRPr sz="1100" b="1">
                <a:solidFill>
                  <a:srgbClr val="38BDF8"/>
                </a:solidFill>
              </a:defRPr>
            </a:pPr>
            <a:r>
              <a:t>■  SYSTEM ARCHITECTURE</a:t>
            </a:r>
          </a:p>
        </p:txBody>
      </p:sp>
      <p:sp>
        <p:nvSpPr>
          <p:cNvPr id="3" name="TextBox 2"/>
          <p:cNvSpPr txBox="1"/>
          <p:nvPr/>
        </p:nvSpPr>
        <p:spPr>
          <a:xfrm>
            <a:off x="731520" y="640080"/>
            <a:ext cx="10698480" cy="731520"/>
          </a:xfrm>
          <a:prstGeom prst="rect">
            <a:avLst/>
          </a:prstGeom>
          <a:noFill/>
        </p:spPr>
        <p:txBody>
          <a:bodyPr wrap="square">
            <a:spAutoFit/>
          </a:bodyPr>
          <a:lstStyle/>
          <a:p>
            <a:pPr>
              <a:defRPr sz="2600" b="1">
                <a:solidFill>
                  <a:srgbClr val="FFFFFF"/>
                </a:solidFill>
              </a:defRPr>
            </a:pPr>
            <a:r>
              <a:t>Production 3-Tier Microservices Architecture</a:t>
            </a:r>
          </a:p>
        </p:txBody>
      </p:sp>
      <p:sp>
        <p:nvSpPr>
          <p:cNvPr id="4" name="TextBox 3"/>
          <p:cNvSpPr txBox="1"/>
          <p:nvPr/>
        </p:nvSpPr>
        <p:spPr>
          <a:xfrm>
            <a:off x="731520" y="1280160"/>
            <a:ext cx="10698480" cy="365760"/>
          </a:xfrm>
          <a:prstGeom prst="rect">
            <a:avLst/>
          </a:prstGeom>
          <a:noFill/>
        </p:spPr>
        <p:txBody>
          <a:bodyPr wrap="square">
            <a:spAutoFit/>
          </a:bodyPr>
          <a:lstStyle/>
          <a:p>
            <a:pPr>
              <a:defRPr sz="1300">
                <a:solidFill>
                  <a:srgbClr val="94A3B8"/>
                </a:solidFill>
              </a:defRPr>
            </a:pPr>
            <a:r>
              <a:t>Decoupled full-stack engineering ensuring speed, modularity, and error isolation</a:t>
            </a:r>
          </a:p>
        </p:txBody>
      </p:sp>
      <p:pic>
        <p:nvPicPr>
          <p:cNvPr id="5" name="Picture 4" descr="architecture.png"/>
          <p:cNvPicPr>
            <a:picLocks noChangeAspect="1"/>
          </p:cNvPicPr>
          <p:nvPr/>
        </p:nvPicPr>
        <p:blipFill>
          <a:blip r:embed="rId2"/>
          <a:stretch>
            <a:fillRect/>
          </a:stretch>
        </p:blipFill>
        <p:spPr>
          <a:xfrm>
            <a:off x="731520" y="1828800"/>
            <a:ext cx="7132320" cy="3536192"/>
          </a:xfrm>
          <a:prstGeom prst="rect">
            <a:avLst/>
          </a:prstGeom>
        </p:spPr>
      </p:pic>
      <p:sp>
        <p:nvSpPr>
          <p:cNvPr id="6" name="Rounded Rectangle 5"/>
          <p:cNvSpPr/>
          <p:nvPr/>
        </p:nvSpPr>
        <p:spPr>
          <a:xfrm>
            <a:off x="8046720" y="1828800"/>
            <a:ext cx="3383280" cy="42976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600"/>
              </a:spcAft>
              <a:defRPr sz="1400" b="1">
                <a:solidFill>
                  <a:srgbClr val="38BDF8"/>
                </a:solidFill>
              </a:defRPr>
            </a:pPr>
            <a:r>
              <a:t>Tech Stack Highlights</a:t>
            </a:r>
          </a:p>
          <a:p>
            <a:pPr>
              <a:spcAft>
                <a:spcPts val="600"/>
              </a:spcAft>
            </a:pPr>
            <a:r>
              <a:rPr b="1" sz="1100">
                <a:solidFill>
                  <a:srgbClr val="FFFFFF"/>
                </a:solidFill>
              </a:rPr>
              <a:t>•  Python FastAPI Engine: </a:t>
            </a:r>
            <a:r>
              <a:rPr b="0" sz="1100">
                <a:solidFill>
                  <a:srgbClr val="CBD5E1"/>
                </a:solidFill>
              </a:rPr>
              <a:t>Powers the Welsh-Powell solver and NetworkX graph computations. Native JSON serialization with sub-100ms response.</a:t>
            </a:r>
          </a:p>
          <a:p>
            <a:pPr>
              <a:spcAft>
                <a:spcPts val="600"/>
              </a:spcAft>
            </a:pPr>
            <a:r>
              <a:rPr b="1" sz="1100">
                <a:solidFill>
                  <a:srgbClr val="FFFFFF"/>
                </a:solidFill>
              </a:rPr>
              <a:t>•  Node.js Gateway: </a:t>
            </a:r>
            <a:r>
              <a:rPr b="0" sz="1100">
                <a:solidFill>
                  <a:srgbClr val="CBD5E1"/>
                </a:solidFill>
              </a:rPr>
              <a:t>Handles CSV file stream parsing, row-level validation, multi-sheet Excel generation via ExcelJS, and HTML templating.</a:t>
            </a:r>
          </a:p>
          <a:p>
            <a:pPr>
              <a:spcAft>
                <a:spcPts val="600"/>
              </a:spcAft>
            </a:pPr>
            <a:r>
              <a:rPr b="1" sz="1100">
                <a:solidFill>
                  <a:srgbClr val="FFFFFF"/>
                </a:solidFill>
              </a:rPr>
              <a:t>•  React 18 Dashboard: </a:t>
            </a:r>
            <a:r>
              <a:rPr b="0" sz="1100">
                <a:solidFill>
                  <a:srgbClr val="CBD5E1"/>
                </a:solidFill>
              </a:rPr>
              <a:t>Interactive UI built with Vite, Vis.js canvas physics, Tailwind utility styling, and stateful tab navigation.</a:t>
            </a:r>
          </a:p>
          <a:p>
            <a:pPr>
              <a:spcAft>
                <a:spcPts val="600"/>
              </a:spcAft>
            </a:pPr>
            <a:r>
              <a:rPr b="1" sz="1100">
                <a:solidFill>
                  <a:srgbClr val="FFFFFF"/>
                </a:solidFill>
              </a:rPr>
              <a:t>•  Resilient Fallback: </a:t>
            </a:r>
            <a:r>
              <a:rPr b="0" sz="1100">
                <a:solidFill>
                  <a:srgbClr val="CBD5E1"/>
                </a:solidFill>
              </a:rPr>
              <a:t>Includes offline mock mode: evaluates full dashboard functionality even when backend microservices are detached.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132B"/>
        </a:solidFill>
        <a:effectLst/>
      </p:bgPr>
    </p:bg>
    <p:spTree>
      <p:nvGrpSpPr>
        <p:cNvPr id="1" name=""/>
        <p:cNvGrpSpPr/>
        <p:nvPr/>
      </p:nvGrpSpPr>
      <p:grpSpPr/>
      <p:sp>
        <p:nvSpPr>
          <p:cNvPr id="2" name="TextBox 1"/>
          <p:cNvSpPr txBox="1"/>
          <p:nvPr/>
        </p:nvSpPr>
        <p:spPr>
          <a:xfrm>
            <a:off x="731520" y="365760"/>
            <a:ext cx="7315200" cy="365760"/>
          </a:xfrm>
          <a:prstGeom prst="rect">
            <a:avLst/>
          </a:prstGeom>
          <a:noFill/>
        </p:spPr>
        <p:txBody>
          <a:bodyPr wrap="square">
            <a:spAutoFit/>
          </a:bodyPr>
          <a:lstStyle/>
          <a:p>
            <a:pPr>
              <a:defRPr sz="1100" b="1">
                <a:solidFill>
                  <a:srgbClr val="38BDF8"/>
                </a:solidFill>
              </a:defRPr>
            </a:pPr>
            <a:r>
              <a:t>■  EMPIRICAL BENCHMARKS</a:t>
            </a:r>
          </a:p>
        </p:txBody>
      </p:sp>
      <p:sp>
        <p:nvSpPr>
          <p:cNvPr id="3" name="TextBox 2"/>
          <p:cNvSpPr txBox="1"/>
          <p:nvPr/>
        </p:nvSpPr>
        <p:spPr>
          <a:xfrm>
            <a:off x="731520" y="640080"/>
            <a:ext cx="10698480" cy="731520"/>
          </a:xfrm>
          <a:prstGeom prst="rect">
            <a:avLst/>
          </a:prstGeom>
          <a:noFill/>
        </p:spPr>
        <p:txBody>
          <a:bodyPr wrap="square">
            <a:spAutoFit/>
          </a:bodyPr>
          <a:lstStyle/>
          <a:p>
            <a:pPr>
              <a:defRPr sz="2600" b="1">
                <a:solidFill>
                  <a:srgbClr val="FFFFFF"/>
                </a:solidFill>
              </a:defRPr>
            </a:pPr>
            <a:r>
              <a:t>Campus-Scale Validation: 4,000 Students Tested</a:t>
            </a:r>
          </a:p>
        </p:txBody>
      </p:sp>
      <p:sp>
        <p:nvSpPr>
          <p:cNvPr id="4" name="TextBox 3"/>
          <p:cNvSpPr txBox="1"/>
          <p:nvPr/>
        </p:nvSpPr>
        <p:spPr>
          <a:xfrm>
            <a:off x="731520" y="1280160"/>
            <a:ext cx="10698480" cy="365760"/>
          </a:xfrm>
          <a:prstGeom prst="rect">
            <a:avLst/>
          </a:prstGeom>
          <a:noFill/>
        </p:spPr>
        <p:txBody>
          <a:bodyPr wrap="square">
            <a:spAutoFit/>
          </a:bodyPr>
          <a:lstStyle/>
          <a:p>
            <a:pPr>
              <a:defRPr sz="1300">
                <a:solidFill>
                  <a:srgbClr val="94A3B8"/>
                </a:solidFill>
              </a:defRPr>
            </a:pPr>
            <a:r>
              <a:t>Rigorous benchmarking comparing manual scheduling vs naive greedy vs ExamSlotAI</a:t>
            </a:r>
          </a:p>
        </p:txBody>
      </p:sp>
      <p:pic>
        <p:nvPicPr>
          <p:cNvPr id="5" name="Picture 4" descr="benchmarks.png"/>
          <p:cNvPicPr>
            <a:picLocks noChangeAspect="1"/>
          </p:cNvPicPr>
          <p:nvPr/>
        </p:nvPicPr>
        <p:blipFill>
          <a:blip r:embed="rId2"/>
          <a:stretch>
            <a:fillRect/>
          </a:stretch>
        </p:blipFill>
        <p:spPr>
          <a:xfrm>
            <a:off x="731520" y="1828800"/>
            <a:ext cx="5486400" cy="2715491"/>
          </a:xfrm>
          <a:prstGeom prst="rect">
            <a:avLst/>
          </a:prstGeom>
        </p:spPr>
      </p:pic>
      <p:graphicFrame>
        <p:nvGraphicFramePr>
          <p:cNvPr id="6" name="Table 5"/>
          <p:cNvGraphicFramePr>
            <a:graphicFrameLocks noGrp="1"/>
          </p:cNvGraphicFramePr>
          <p:nvPr/>
        </p:nvGraphicFramePr>
        <p:xfrm>
          <a:off x="6400800" y="1828800"/>
          <a:ext cx="5029200" cy="4297680"/>
        </p:xfrm>
        <a:graphic>
          <a:graphicData uri="http://schemas.openxmlformats.org/drawingml/2006/table">
            <a:tbl>
              <a:tblPr firstRow="1" bandRow="1">
                <a:tableStyleId>{5C22544A-7EE6-4342-B048-85BDC9FD1C3A}</a:tableStyleId>
              </a:tblPr>
              <a:tblGrid>
                <a:gridCol w="1676400"/>
                <a:gridCol w="1676400"/>
                <a:gridCol w="1676400"/>
              </a:tblGrid>
              <a:tr h="716280">
                <a:tc>
                  <a:txBody>
                    <a:bodyPr/>
                    <a:lstStyle/>
                    <a:p>
                      <a:pPr algn="l"/>
                      <a:r>
                        <a:rPr sz="1100" b="1">
                          <a:solidFill>
                            <a:srgbClr val="0B132B"/>
                          </a:solidFill>
                        </a:rPr>
                        <a:t>Metric</a:t>
                      </a:r>
                    </a:p>
                  </a:txBody>
                  <a:tcPr anchor="ctr">
                    <a:solidFill>
                      <a:srgbClr val="38BDF8"/>
                    </a:solidFill>
                  </a:tcPr>
                </a:tc>
                <a:tc>
                  <a:txBody>
                    <a:bodyPr/>
                    <a:lstStyle/>
                    <a:p>
                      <a:pPr algn="ctr"/>
                      <a:r>
                        <a:rPr sz="1100" b="1">
                          <a:solidFill>
                            <a:srgbClr val="0B132B"/>
                          </a:solidFill>
                        </a:rPr>
                        <a:t>Starter Dataset</a:t>
                      </a:r>
                    </a:p>
                  </a:txBody>
                  <a:tcPr anchor="ctr">
                    <a:solidFill>
                      <a:srgbClr val="38BDF8"/>
                    </a:solidFill>
                  </a:tcPr>
                </a:tc>
                <a:tc>
                  <a:txBody>
                    <a:bodyPr/>
                    <a:lstStyle/>
                    <a:p>
                      <a:pPr algn="ctr"/>
                      <a:r>
                        <a:rPr sz="1100" b="1">
                          <a:solidFill>
                            <a:srgbClr val="0B132B"/>
                          </a:solidFill>
                        </a:rPr>
                        <a:t>Campus Scale (VIT)</a:t>
                      </a:r>
                    </a:p>
                  </a:txBody>
                  <a:tcPr anchor="ctr">
                    <a:solidFill>
                      <a:srgbClr val="38BDF8"/>
                    </a:solidFill>
                  </a:tcPr>
                </a:tc>
              </a:tr>
              <a:tr h="716280">
                <a:tc>
                  <a:txBody>
                    <a:bodyPr/>
                    <a:lstStyle/>
                    <a:p>
                      <a:pPr algn="l"/>
                      <a:r>
                        <a:rPr sz="1100" b="1">
                          <a:solidFill>
                            <a:srgbClr val="FFFFFF"/>
                          </a:solidFill>
                        </a:rPr>
                        <a:t>Total Students</a:t>
                      </a:r>
                    </a:p>
                  </a:txBody>
                  <a:tcPr anchor="ctr">
                    <a:solidFill>
                      <a:srgbClr val="1E293B"/>
                    </a:solidFill>
                  </a:tcPr>
                </a:tc>
                <a:tc>
                  <a:txBody>
                    <a:bodyPr/>
                    <a:lstStyle/>
                    <a:p>
                      <a:pPr algn="ctr"/>
                      <a:r>
                        <a:rPr sz="1100" b="0">
                          <a:solidFill>
                            <a:srgbClr val="FFFFFF"/>
                          </a:solidFill>
                        </a:rPr>
                        <a:t>140 Students</a:t>
                      </a:r>
                    </a:p>
                  </a:txBody>
                  <a:tcPr anchor="ctr">
                    <a:solidFill>
                      <a:srgbClr val="1E293B"/>
                    </a:solidFill>
                  </a:tcPr>
                </a:tc>
                <a:tc>
                  <a:txBody>
                    <a:bodyPr/>
                    <a:lstStyle/>
                    <a:p>
                      <a:pPr algn="ctr"/>
                      <a:r>
                        <a:rPr sz="1100" b="0">
                          <a:solidFill>
                            <a:srgbClr val="FFFFFF"/>
                          </a:solidFill>
                        </a:rPr>
                        <a:t>4,000 Students</a:t>
                      </a:r>
                    </a:p>
                  </a:txBody>
                  <a:tcPr anchor="ctr">
                    <a:solidFill>
                      <a:srgbClr val="1E293B"/>
                    </a:solidFill>
                  </a:tcPr>
                </a:tc>
              </a:tr>
              <a:tr h="716280">
                <a:tc>
                  <a:txBody>
                    <a:bodyPr/>
                    <a:lstStyle/>
                    <a:p>
                      <a:pPr algn="l"/>
                      <a:r>
                        <a:rPr sz="1100" b="1">
                          <a:solidFill>
                            <a:srgbClr val="FFFFFF"/>
                          </a:solidFill>
                        </a:rPr>
                        <a:t>Total Courses</a:t>
                      </a:r>
                    </a:p>
                  </a:txBody>
                  <a:tcPr anchor="ctr">
                    <a:solidFill>
                      <a:srgbClr val="0F172A"/>
                    </a:solidFill>
                  </a:tcPr>
                </a:tc>
                <a:tc>
                  <a:txBody>
                    <a:bodyPr/>
                    <a:lstStyle/>
                    <a:p>
                      <a:pPr algn="ctr"/>
                      <a:r>
                        <a:rPr sz="1100" b="0">
                          <a:solidFill>
                            <a:srgbClr val="FFFFFF"/>
                          </a:solidFill>
                        </a:rPr>
                        <a:t>21 Courses</a:t>
                      </a:r>
                    </a:p>
                  </a:txBody>
                  <a:tcPr anchor="ctr">
                    <a:solidFill>
                      <a:srgbClr val="0F172A"/>
                    </a:solidFill>
                  </a:tcPr>
                </a:tc>
                <a:tc>
                  <a:txBody>
                    <a:bodyPr/>
                    <a:lstStyle/>
                    <a:p>
                      <a:pPr algn="ctr"/>
                      <a:r>
                        <a:rPr sz="1100" b="0">
                          <a:solidFill>
                            <a:srgbClr val="FFFFFF"/>
                          </a:solidFill>
                        </a:rPr>
                        <a:t>52 Courses (8 Depts)</a:t>
                      </a:r>
                    </a:p>
                  </a:txBody>
                  <a:tcPr anchor="ctr">
                    <a:solidFill>
                      <a:srgbClr val="0F172A"/>
                    </a:solidFill>
                  </a:tcPr>
                </a:tc>
              </a:tr>
              <a:tr h="716280">
                <a:tc>
                  <a:txBody>
                    <a:bodyPr/>
                    <a:lstStyle/>
                    <a:p>
                      <a:pPr algn="l"/>
                      <a:r>
                        <a:rPr sz="1100" b="1">
                          <a:solidFill>
                            <a:srgbClr val="FFFFFF"/>
                          </a:solidFill>
                        </a:rPr>
                        <a:t>Potential Clashes</a:t>
                      </a:r>
                    </a:p>
                  </a:txBody>
                  <a:tcPr anchor="ctr">
                    <a:solidFill>
                      <a:srgbClr val="1E293B"/>
                    </a:solidFill>
                  </a:tcPr>
                </a:tc>
                <a:tc>
                  <a:txBody>
                    <a:bodyPr/>
                    <a:lstStyle/>
                    <a:p>
                      <a:pPr algn="ctr"/>
                      <a:r>
                        <a:rPr sz="1100" b="0">
                          <a:solidFill>
                            <a:srgbClr val="FFFFFF"/>
                          </a:solidFill>
                        </a:rPr>
                        <a:t>138 Student Overlaps</a:t>
                      </a:r>
                    </a:p>
                  </a:txBody>
                  <a:tcPr anchor="ctr">
                    <a:solidFill>
                      <a:srgbClr val="1E293B"/>
                    </a:solidFill>
                  </a:tcPr>
                </a:tc>
                <a:tc>
                  <a:txBody>
                    <a:bodyPr/>
                    <a:lstStyle/>
                    <a:p>
                      <a:pPr algn="ctr"/>
                      <a:r>
                        <a:rPr sz="1100" b="0">
                          <a:solidFill>
                            <a:srgbClr val="FFFFFF"/>
                          </a:solidFill>
                        </a:rPr>
                        <a:t>350 Conflict Edges</a:t>
                      </a:r>
                    </a:p>
                  </a:txBody>
                  <a:tcPr anchor="ctr">
                    <a:solidFill>
                      <a:srgbClr val="1E293B"/>
                    </a:solidFill>
                  </a:tcPr>
                </a:tc>
              </a:tr>
              <a:tr h="716280">
                <a:tc>
                  <a:txBody>
                    <a:bodyPr/>
                    <a:lstStyle/>
                    <a:p>
                      <a:pPr algn="l"/>
                      <a:r>
                        <a:rPr sz="1100" b="1">
                          <a:solidFill>
                            <a:srgbClr val="FFFFFF"/>
                          </a:solidFill>
                        </a:rPr>
                        <a:t>Slots Required</a:t>
                      </a:r>
                    </a:p>
                  </a:txBody>
                  <a:tcPr anchor="ctr">
                    <a:solidFill>
                      <a:srgbClr val="0F172A"/>
                    </a:solidFill>
                  </a:tcPr>
                </a:tc>
                <a:tc>
                  <a:txBody>
                    <a:bodyPr/>
                    <a:lstStyle/>
                    <a:p>
                      <a:pPr algn="ctr"/>
                      <a:r>
                        <a:rPr sz="1100" b="0">
                          <a:solidFill>
                            <a:srgbClr val="FFFFFF"/>
                          </a:solidFill>
                        </a:rPr>
                        <a:t>13 Exam Slots</a:t>
                      </a:r>
                    </a:p>
                  </a:txBody>
                  <a:tcPr anchor="ctr">
                    <a:solidFill>
                      <a:srgbClr val="0F172A"/>
                    </a:solidFill>
                  </a:tcPr>
                </a:tc>
                <a:tc>
                  <a:txBody>
                    <a:bodyPr/>
                    <a:lstStyle/>
                    <a:p>
                      <a:pPr algn="ctr"/>
                      <a:r>
                        <a:rPr sz="1100" b="0">
                          <a:solidFill>
                            <a:srgbClr val="FFFFFF"/>
                          </a:solidFill>
                        </a:rPr>
                        <a:t>13 Slots (6.5 Days)</a:t>
                      </a:r>
                    </a:p>
                  </a:txBody>
                  <a:tcPr anchor="ctr">
                    <a:solidFill>
                      <a:srgbClr val="0F172A"/>
                    </a:solidFill>
                  </a:tcPr>
                </a:tc>
              </a:tr>
              <a:tr h="716280">
                <a:tc>
                  <a:txBody>
                    <a:bodyPr/>
                    <a:lstStyle/>
                    <a:p>
                      <a:pPr algn="l"/>
                      <a:r>
                        <a:rPr sz="1100" b="1">
                          <a:solidFill>
                            <a:srgbClr val="FFFFFF"/>
                          </a:solidFill>
                        </a:rPr>
                        <a:t>Solve Time</a:t>
                      </a:r>
                    </a:p>
                  </a:txBody>
                  <a:tcPr anchor="ctr">
                    <a:solidFill>
                      <a:srgbClr val="1E293B"/>
                    </a:solidFill>
                  </a:tcPr>
                </a:tc>
                <a:tc>
                  <a:txBody>
                    <a:bodyPr/>
                    <a:lstStyle/>
                    <a:p>
                      <a:pPr algn="ctr"/>
                      <a:r>
                        <a:rPr sz="1100" b="0">
                          <a:solidFill>
                            <a:srgbClr val="FFFFFF"/>
                          </a:solidFill>
                        </a:rPr>
                        <a:t>&lt; 15 ms</a:t>
                      </a:r>
                    </a:p>
                  </a:txBody>
                  <a:tcPr anchor="ctr">
                    <a:solidFill>
                      <a:srgbClr val="1E293B"/>
                    </a:solidFill>
                  </a:tcPr>
                </a:tc>
                <a:tc>
                  <a:txBody>
                    <a:bodyPr/>
                    <a:lstStyle/>
                    <a:p>
                      <a:pPr algn="ctr"/>
                      <a:r>
                        <a:rPr sz="1100" b="0">
                          <a:solidFill>
                            <a:srgbClr val="FFFFFF"/>
                          </a:solidFill>
                        </a:rPr>
                        <a:t>&lt; 100 ms (Instant!)</a:t>
                      </a:r>
                    </a:p>
                  </a:txBody>
                  <a:tcPr anchor="ctr">
                    <a:solidFill>
                      <a:srgbClr val="1E293B"/>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132B"/>
        </a:solidFill>
        <a:effectLst/>
      </p:bgPr>
    </p:bg>
    <p:spTree>
      <p:nvGrpSpPr>
        <p:cNvPr id="1" name=""/>
        <p:cNvGrpSpPr/>
        <p:nvPr/>
      </p:nvGrpSpPr>
      <p:grpSpPr/>
      <p:sp>
        <p:nvSpPr>
          <p:cNvPr id="2" name="TextBox 1"/>
          <p:cNvSpPr txBox="1"/>
          <p:nvPr/>
        </p:nvSpPr>
        <p:spPr>
          <a:xfrm>
            <a:off x="731520" y="365760"/>
            <a:ext cx="7315200" cy="365760"/>
          </a:xfrm>
          <a:prstGeom prst="rect">
            <a:avLst/>
          </a:prstGeom>
          <a:noFill/>
        </p:spPr>
        <p:txBody>
          <a:bodyPr wrap="square">
            <a:spAutoFit/>
          </a:bodyPr>
          <a:lstStyle/>
          <a:p>
            <a:pPr>
              <a:defRPr sz="1100" b="1">
                <a:solidFill>
                  <a:srgbClr val="38BDF8"/>
                </a:solidFill>
              </a:defRPr>
            </a:pPr>
            <a:r>
              <a:t>■  FRONTEND &amp; USER EXPERIENCE</a:t>
            </a:r>
          </a:p>
        </p:txBody>
      </p:sp>
      <p:sp>
        <p:nvSpPr>
          <p:cNvPr id="3" name="TextBox 2"/>
          <p:cNvSpPr txBox="1"/>
          <p:nvPr/>
        </p:nvSpPr>
        <p:spPr>
          <a:xfrm>
            <a:off x="731520" y="640080"/>
            <a:ext cx="10698480" cy="731520"/>
          </a:xfrm>
          <a:prstGeom prst="rect">
            <a:avLst/>
          </a:prstGeom>
          <a:noFill/>
        </p:spPr>
        <p:txBody>
          <a:bodyPr wrap="square">
            <a:spAutoFit/>
          </a:bodyPr>
          <a:lstStyle/>
          <a:p>
            <a:pPr>
              <a:defRPr sz="2600" b="1">
                <a:solidFill>
                  <a:srgbClr val="FFFFFF"/>
                </a:solidFill>
              </a:defRPr>
            </a:pPr>
            <a:r>
              <a:t>Interactive React Dashboard &amp; Export Suite</a:t>
            </a:r>
          </a:p>
        </p:txBody>
      </p:sp>
      <p:sp>
        <p:nvSpPr>
          <p:cNvPr id="4" name="TextBox 3"/>
          <p:cNvSpPr txBox="1"/>
          <p:nvPr/>
        </p:nvSpPr>
        <p:spPr>
          <a:xfrm>
            <a:off x="731520" y="1280160"/>
            <a:ext cx="10698480" cy="365760"/>
          </a:xfrm>
          <a:prstGeom prst="rect">
            <a:avLst/>
          </a:prstGeom>
          <a:noFill/>
        </p:spPr>
        <p:txBody>
          <a:bodyPr wrap="square">
            <a:spAutoFit/>
          </a:bodyPr>
          <a:lstStyle/>
          <a:p>
            <a:pPr>
              <a:defRPr sz="1300">
                <a:solidFill>
                  <a:srgbClr val="94A3B8"/>
                </a:solidFill>
              </a:defRPr>
            </a:pPr>
            <a:r>
              <a:t>Enterprise-ready administrative interface designed for university examination cells</a:t>
            </a:r>
          </a:p>
        </p:txBody>
      </p:sp>
      <p:sp>
        <p:nvSpPr>
          <p:cNvPr id="5" name="Rounded Rectangle 4"/>
          <p:cNvSpPr/>
          <p:nvPr/>
        </p:nvSpPr>
        <p:spPr>
          <a:xfrm>
            <a:off x="731520" y="1828800"/>
            <a:ext cx="5212080" cy="205740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sz="1400" b="1">
                <a:solidFill>
                  <a:srgbClr val="38BDF8"/>
                </a:solidFill>
              </a:defRPr>
            </a:pPr>
            <a:r>
              <a:t>1. Dynamic Graph Canvas (Vis.js)</a:t>
            </a:r>
          </a:p>
          <a:p>
            <a:pPr>
              <a:defRPr sz="1100">
                <a:solidFill>
                  <a:srgbClr val="CBD5E1"/>
                </a:solidFill>
              </a:defRPr>
            </a:pPr>
            <a:r>
              <a:t>Interactive physics simulation allowing administrators to zoom, drag, and inspect course clusters. Hovering over any node displays course name, student enrollment count, and connected conflict neighbors in real time.</a:t>
            </a:r>
          </a:p>
        </p:txBody>
      </p:sp>
      <p:sp>
        <p:nvSpPr>
          <p:cNvPr id="6" name="Rounded Rectangle 5"/>
          <p:cNvSpPr/>
          <p:nvPr/>
        </p:nvSpPr>
        <p:spPr>
          <a:xfrm>
            <a:off x="6172200" y="1828800"/>
            <a:ext cx="5212080" cy="2057400"/>
          </a:xfrm>
          <a:prstGeom prst="roundRect">
            <a:avLst/>
          </a:prstGeom>
          <a:solidFill>
            <a:srgbClr val="1E293B"/>
          </a:solidFill>
          <a:ln w="19050">
            <a:solidFill>
              <a:srgbClr val="818CF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sz="1400" b="1">
                <a:solidFill>
                  <a:srgbClr val="818CF8"/>
                </a:solidFill>
              </a:defRPr>
            </a:pPr>
            <a:r>
              <a:t>2. Tabbed Timetable &amp; Room View</a:t>
            </a:r>
          </a:p>
          <a:p>
            <a:pPr>
              <a:defRPr sz="1100">
                <a:solidFill>
                  <a:srgbClr val="CBD5E1"/>
                </a:solidFill>
              </a:defRPr>
            </a:pPr>
            <a:r>
              <a:t>Clean day-by-day timetable tabs (Day 1 Morning to Day 6 Afternoon). Shows concurrent courses, total students per slot, specific rooms assigned (e.g. CB-101, CB-102), and invigilator counts.</a:t>
            </a:r>
          </a:p>
        </p:txBody>
      </p:sp>
      <p:sp>
        <p:nvSpPr>
          <p:cNvPr id="7" name="Rounded Rectangle 6"/>
          <p:cNvSpPr/>
          <p:nvPr/>
        </p:nvSpPr>
        <p:spPr>
          <a:xfrm>
            <a:off x="731520" y="4069080"/>
            <a:ext cx="5212080" cy="2057400"/>
          </a:xfrm>
          <a:prstGeom prst="roundRect">
            <a:avLst/>
          </a:prstGeom>
          <a:solidFill>
            <a:srgbClr val="1E293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sz="1400" b="1">
                <a:solidFill>
                  <a:srgbClr val="F59E0B"/>
                </a:solidFill>
              </a:defRPr>
            </a:pPr>
            <a:r>
              <a:t>3. Pre-Flight CSV Validation</a:t>
            </a:r>
          </a:p>
          <a:p>
            <a:pPr>
              <a:defRPr sz="1100">
                <a:solidFill>
                  <a:srgbClr val="CBD5E1"/>
                </a:solidFill>
              </a:defRPr>
            </a:pPr>
            <a:r>
              <a:t>Client and gateway validation catches corrupt CSV formats, missing columns, duplicate enrollments, and invalid student IDs before sending payloads to the solver, providing line-by-line feedback.</a:t>
            </a:r>
          </a:p>
        </p:txBody>
      </p:sp>
      <p:sp>
        <p:nvSpPr>
          <p:cNvPr id="8" name="Rounded Rectangle 7"/>
          <p:cNvSpPr/>
          <p:nvPr/>
        </p:nvSpPr>
        <p:spPr>
          <a:xfrm>
            <a:off x="6172200" y="4069080"/>
            <a:ext cx="5212080" cy="2057400"/>
          </a:xfrm>
          <a:prstGeom prst="roundRect">
            <a:avLst/>
          </a:prstGeom>
          <a:solidFill>
            <a:srgbClr val="1E293B"/>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sz="1400" b="1">
                <a:solidFill>
                  <a:srgbClr val="34D399"/>
                </a:solidFill>
              </a:defRPr>
            </a:pPr>
            <a:r>
              <a:t>4. Comprehensive Export Utility</a:t>
            </a:r>
          </a:p>
          <a:p>
            <a:pPr>
              <a:defRPr sz="1100">
                <a:solidFill>
                  <a:srgbClr val="CBD5E1"/>
                </a:solidFill>
              </a:defRPr>
            </a:pPr>
            <a:r>
              <a:t>1-click export generating an Excel workbook with 3 distinct sheets (Summary Metrics, Slot Timetable, Room Allocation Roster) as well as a printable, publication-ready HTML timetable.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132B"/>
        </a:solidFill>
        <a:effectLst/>
      </p:bgPr>
    </p:bg>
    <p:spTree>
      <p:nvGrpSpPr>
        <p:cNvPr id="1" name=""/>
        <p:cNvGrpSpPr/>
        <p:nvPr/>
      </p:nvGrpSpPr>
      <p:grpSpPr/>
      <p:sp>
        <p:nvSpPr>
          <p:cNvPr id="2" name="TextBox 1"/>
          <p:cNvSpPr txBox="1"/>
          <p:nvPr/>
        </p:nvSpPr>
        <p:spPr>
          <a:xfrm>
            <a:off x="731520" y="365760"/>
            <a:ext cx="7315200" cy="365760"/>
          </a:xfrm>
          <a:prstGeom prst="rect">
            <a:avLst/>
          </a:prstGeom>
          <a:noFill/>
        </p:spPr>
        <p:txBody>
          <a:bodyPr wrap="square">
            <a:spAutoFit/>
          </a:bodyPr>
          <a:lstStyle/>
          <a:p>
            <a:pPr>
              <a:defRPr sz="1100" b="1">
                <a:solidFill>
                  <a:srgbClr val="38BDF8"/>
                </a:solidFill>
              </a:defRPr>
            </a:pPr>
            <a:r>
              <a:t>■  TEAM &amp; COLLABORATIVE ENGINEERING</a:t>
            </a:r>
          </a:p>
        </p:txBody>
      </p:sp>
      <p:sp>
        <p:nvSpPr>
          <p:cNvPr id="3" name="TextBox 2"/>
          <p:cNvSpPr txBox="1"/>
          <p:nvPr/>
        </p:nvSpPr>
        <p:spPr>
          <a:xfrm>
            <a:off x="731520" y="640080"/>
            <a:ext cx="10698480" cy="731520"/>
          </a:xfrm>
          <a:prstGeom prst="rect">
            <a:avLst/>
          </a:prstGeom>
          <a:noFill/>
        </p:spPr>
        <p:txBody>
          <a:bodyPr wrap="square">
            <a:spAutoFit/>
          </a:bodyPr>
          <a:lstStyle/>
          <a:p>
            <a:pPr>
              <a:defRPr sz="2600" b="1">
                <a:solidFill>
                  <a:srgbClr val="FFFFFF"/>
                </a:solidFill>
              </a:defRPr>
            </a:pPr>
            <a:r>
              <a:t>Team Infinite Innovators: Division of Work</a:t>
            </a:r>
          </a:p>
        </p:txBody>
      </p:sp>
      <p:sp>
        <p:nvSpPr>
          <p:cNvPr id="4" name="TextBox 3"/>
          <p:cNvSpPr txBox="1"/>
          <p:nvPr/>
        </p:nvSpPr>
        <p:spPr>
          <a:xfrm>
            <a:off x="731520" y="1280160"/>
            <a:ext cx="10698480" cy="365760"/>
          </a:xfrm>
          <a:prstGeom prst="rect">
            <a:avLst/>
          </a:prstGeom>
          <a:noFill/>
        </p:spPr>
        <p:txBody>
          <a:bodyPr wrap="square">
            <a:spAutoFit/>
          </a:bodyPr>
          <a:lstStyle/>
          <a:p>
            <a:pPr>
              <a:defRPr sz="1300">
                <a:solidFill>
                  <a:srgbClr val="94A3B8"/>
                </a:solidFill>
              </a:defRPr>
            </a:pPr>
            <a:r>
              <a:t>Clear ownership and cross-stack synergy delivering end-to-end hackathon excellence</a:t>
            </a:r>
          </a:p>
        </p:txBody>
      </p:sp>
      <p:sp>
        <p:nvSpPr>
          <p:cNvPr id="5" name="Rounded Rectangle 4"/>
          <p:cNvSpPr/>
          <p:nvPr/>
        </p:nvSpPr>
        <p:spPr>
          <a:xfrm>
            <a:off x="731520" y="1828800"/>
            <a:ext cx="3429000" cy="429768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38BDF8"/>
                </a:solidFill>
              </a:defRPr>
            </a:pPr>
            <a:r>
              <a:t>Member 1</a:t>
            </a:r>
          </a:p>
          <a:p>
            <a:pPr>
              <a:spcAft>
                <a:spcPts val="1000"/>
              </a:spcAft>
              <a:defRPr sz="1150" b="1">
                <a:solidFill>
                  <a:srgbClr val="FFFFFF"/>
                </a:solidFill>
              </a:defRPr>
            </a:pPr>
            <a:r>
              <a:t>Algorithmic Core &amp; Math Engine</a:t>
            </a:r>
          </a:p>
          <a:p>
            <a:pPr>
              <a:defRPr sz="1050">
                <a:solidFill>
                  <a:srgbClr val="CBD5E1"/>
                </a:solidFill>
              </a:defRPr>
            </a:pPr>
            <a:r>
              <a:t>Tech Stack: Python 3.12, FastAPI, NetworkX</a:t>
            </a:r>
            <a:br/>
            <a:br/>
            <a:r>
              <a:t>• Modeled the conflict graph G=(V,E,W) from raw student enrollment records.</a:t>
            </a:r>
            <a:br/>
            <a:r>
              <a:t>• Implemented Welsh-Powell graph coloring for chromatic number optimization.</a:t>
            </a:r>
            <a:br/>
            <a:r>
              <a:t>• Developed greedy bin-packing spatial allocator across 208 campus rooms.</a:t>
            </a:r>
            <a:br/>
            <a:r>
              <a:t>• Automated invigilator duty headcount and room capacity constraint validation.</a:t>
            </a:r>
          </a:p>
        </p:txBody>
      </p:sp>
      <p:sp>
        <p:nvSpPr>
          <p:cNvPr id="6" name="Rounded Rectangle 5"/>
          <p:cNvSpPr/>
          <p:nvPr/>
        </p:nvSpPr>
        <p:spPr>
          <a:xfrm>
            <a:off x="4343400" y="1828800"/>
            <a:ext cx="3429000" cy="4297680"/>
          </a:xfrm>
          <a:prstGeom prst="roundRect">
            <a:avLst/>
          </a:prstGeom>
          <a:solidFill>
            <a:srgbClr val="1E293B"/>
          </a:solidFill>
          <a:ln w="19050">
            <a:solidFill>
              <a:srgbClr val="818CF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818CF8"/>
                </a:solidFill>
              </a:defRPr>
            </a:pPr>
            <a:r>
              <a:t>Member 2</a:t>
            </a:r>
          </a:p>
          <a:p>
            <a:pPr>
              <a:spcAft>
                <a:spcPts val="1000"/>
              </a:spcAft>
              <a:defRPr sz="1150" b="1">
                <a:solidFill>
                  <a:srgbClr val="FFFFFF"/>
                </a:solidFill>
              </a:defRPr>
            </a:pPr>
            <a:r>
              <a:t>API Gateway &amp; Data Services</a:t>
            </a:r>
          </a:p>
          <a:p>
            <a:pPr>
              <a:defRPr sz="1050">
                <a:solidFill>
                  <a:srgbClr val="CBD5E1"/>
                </a:solidFill>
              </a:defRPr>
            </a:pPr>
            <a:r>
              <a:t>Tech Stack: Node.js, Express, Multer, ExcelJS</a:t>
            </a:r>
            <a:br/>
            <a:br/>
            <a:r>
              <a:t>• Built resilient API gateway with pre-flight CSV validation and error reporting.</a:t>
            </a:r>
            <a:br/>
            <a:r>
              <a:t>• Engineered multi-sheet Excel export engine with custom formatting.</a:t>
            </a:r>
            <a:br/>
            <a:r>
              <a:t>• Developed printable HTML timetable template for campus publication.</a:t>
            </a:r>
            <a:br/>
            <a:r>
              <a:t>• Created synthetic data generation pipelines (small and 4,000-student datasets).</a:t>
            </a:r>
          </a:p>
        </p:txBody>
      </p:sp>
      <p:sp>
        <p:nvSpPr>
          <p:cNvPr id="7" name="Rounded Rectangle 6"/>
          <p:cNvSpPr/>
          <p:nvPr/>
        </p:nvSpPr>
        <p:spPr>
          <a:xfrm>
            <a:off x="7955280" y="1828800"/>
            <a:ext cx="3429000" cy="4297680"/>
          </a:xfrm>
          <a:prstGeom prst="roundRect">
            <a:avLst/>
          </a:prstGeom>
          <a:solidFill>
            <a:srgbClr val="1E293B"/>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34D399"/>
                </a:solidFill>
              </a:defRPr>
            </a:pPr>
            <a:r>
              <a:t>Member 3</a:t>
            </a:r>
          </a:p>
          <a:p>
            <a:pPr>
              <a:spcAft>
                <a:spcPts val="1000"/>
              </a:spcAft>
              <a:defRPr sz="1150" b="1">
                <a:solidFill>
                  <a:srgbClr val="FFFFFF"/>
                </a:solidFill>
              </a:defRPr>
            </a:pPr>
            <a:r>
              <a:t>Frontend &amp; Data Visualization</a:t>
            </a:r>
          </a:p>
          <a:p>
            <a:pPr>
              <a:defRPr sz="1050">
                <a:solidFill>
                  <a:srgbClr val="CBD5E1"/>
                </a:solidFill>
              </a:defRPr>
            </a:pPr>
            <a:r>
              <a:t>Tech Stack: React 18, Vite, Vis-Network, CSS</a:t>
            </a:r>
            <a:br/>
            <a:br/>
            <a:r>
              <a:t>• Designed responsive single-page dashboard with dark modern aesthetic.</a:t>
            </a:r>
            <a:br/>
            <a:r>
              <a:t>• Integrated Vis-Network for dynamic graph physics and interactive node inspection.</a:t>
            </a:r>
            <a:br/>
            <a:r>
              <a:t>• Built tabbed timetable matrix with block and floor-level room assignments.</a:t>
            </a:r>
            <a:br/>
            <a:r>
              <a:t>• Implemented offline mock mode enabling zero-dependency evaluation.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132B"/>
        </a:solidFill>
        <a:effectLst/>
      </p:bgPr>
    </p:bg>
    <p:spTree>
      <p:nvGrpSpPr>
        <p:cNvPr id="1" name=""/>
        <p:cNvGrpSpPr/>
        <p:nvPr/>
      </p:nvGrpSpPr>
      <p:grpSpPr/>
      <p:sp>
        <p:nvSpPr>
          <p:cNvPr id="2" name="TextBox 1"/>
          <p:cNvSpPr txBox="1"/>
          <p:nvPr/>
        </p:nvSpPr>
        <p:spPr>
          <a:xfrm>
            <a:off x="731520" y="365760"/>
            <a:ext cx="7315200" cy="365760"/>
          </a:xfrm>
          <a:prstGeom prst="rect">
            <a:avLst/>
          </a:prstGeom>
          <a:noFill/>
        </p:spPr>
        <p:txBody>
          <a:bodyPr wrap="square">
            <a:spAutoFit/>
          </a:bodyPr>
          <a:lstStyle/>
          <a:p>
            <a:pPr>
              <a:defRPr sz="1100" b="1">
                <a:solidFill>
                  <a:srgbClr val="38BDF8"/>
                </a:solidFill>
              </a:defRPr>
            </a:pPr>
            <a:r>
              <a:t>■  VALUE PROPOSITION &amp; FEASIBILITY</a:t>
            </a:r>
          </a:p>
        </p:txBody>
      </p:sp>
      <p:sp>
        <p:nvSpPr>
          <p:cNvPr id="3" name="TextBox 2"/>
          <p:cNvSpPr txBox="1"/>
          <p:nvPr/>
        </p:nvSpPr>
        <p:spPr>
          <a:xfrm>
            <a:off x="731520" y="640080"/>
            <a:ext cx="10698480" cy="731520"/>
          </a:xfrm>
          <a:prstGeom prst="rect">
            <a:avLst/>
          </a:prstGeom>
          <a:noFill/>
        </p:spPr>
        <p:txBody>
          <a:bodyPr wrap="square">
            <a:spAutoFit/>
          </a:bodyPr>
          <a:lstStyle/>
          <a:p>
            <a:pPr>
              <a:defRPr sz="2600" b="1">
                <a:solidFill>
                  <a:srgbClr val="FFFFFF"/>
                </a:solidFill>
              </a:defRPr>
            </a:pPr>
            <a:r>
              <a:t>Real-World Academic &amp; Operational Impact</a:t>
            </a:r>
          </a:p>
        </p:txBody>
      </p:sp>
      <p:sp>
        <p:nvSpPr>
          <p:cNvPr id="4" name="TextBox 3"/>
          <p:cNvSpPr txBox="1"/>
          <p:nvPr/>
        </p:nvSpPr>
        <p:spPr>
          <a:xfrm>
            <a:off x="731520" y="1280160"/>
            <a:ext cx="10698480" cy="365760"/>
          </a:xfrm>
          <a:prstGeom prst="rect">
            <a:avLst/>
          </a:prstGeom>
          <a:noFill/>
        </p:spPr>
        <p:txBody>
          <a:bodyPr wrap="square">
            <a:spAutoFit/>
          </a:bodyPr>
          <a:lstStyle/>
          <a:p>
            <a:pPr>
              <a:defRPr sz="1300">
                <a:solidFill>
                  <a:srgbClr val="94A3B8"/>
                </a:solidFill>
              </a:defRPr>
            </a:pPr>
            <a:r>
              <a:t>Quantifiable administrative savings, student satisfaction, and sustainability benefits</a:t>
            </a:r>
          </a:p>
        </p:txBody>
      </p:sp>
      <p:sp>
        <p:nvSpPr>
          <p:cNvPr id="5" name="Rounded Rectangle 4"/>
          <p:cNvSpPr/>
          <p:nvPr/>
        </p:nvSpPr>
        <p:spPr>
          <a:xfrm>
            <a:off x="731520" y="1828800"/>
            <a:ext cx="2560320" cy="429768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defRPr sz="1000" b="1">
                <a:solidFill>
                  <a:srgbClr val="38BDF8"/>
                </a:solidFill>
              </a:defRPr>
            </a:pPr>
            <a:r>
              <a:t>ADMINISTRATIVE EFFICIENCY</a:t>
            </a:r>
          </a:p>
          <a:p>
            <a:pPr>
              <a:spcAft>
                <a:spcPts val="1000"/>
              </a:spcAft>
              <a:defRPr sz="1400" b="1">
                <a:solidFill>
                  <a:srgbClr val="FFFFFF"/>
                </a:solidFill>
              </a:defRPr>
            </a:pPr>
            <a:r>
              <a:t>⏱️ 99.8% Time Reduction</a:t>
            </a:r>
          </a:p>
          <a:p>
            <a:pPr>
              <a:defRPr sz="1100">
                <a:solidFill>
                  <a:srgbClr val="CBD5E1"/>
                </a:solidFill>
              </a:defRPr>
            </a:pPr>
            <a:r>
              <a:t>Reduces timetable creation from 2-3 weeks of administrative committee meetings to under 100 milliseconds.</a:t>
            </a:r>
          </a:p>
        </p:txBody>
      </p:sp>
      <p:sp>
        <p:nvSpPr>
          <p:cNvPr id="6" name="Rounded Rectangle 5"/>
          <p:cNvSpPr/>
          <p:nvPr/>
        </p:nvSpPr>
        <p:spPr>
          <a:xfrm>
            <a:off x="3429000" y="1828800"/>
            <a:ext cx="2560320" cy="4297680"/>
          </a:xfrm>
          <a:prstGeom prst="roundRect">
            <a:avLst/>
          </a:prstGeom>
          <a:solidFill>
            <a:srgbClr val="1E293B"/>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defRPr sz="1000" b="1">
                <a:solidFill>
                  <a:srgbClr val="34D399"/>
                </a:solidFill>
              </a:defRPr>
            </a:pPr>
            <a:r>
              <a:t>STUDENT ACADEMIC WELFARE</a:t>
            </a:r>
          </a:p>
          <a:p>
            <a:pPr>
              <a:spcAft>
                <a:spcPts val="1000"/>
              </a:spcAft>
              <a:defRPr sz="1400" b="1">
                <a:solidFill>
                  <a:srgbClr val="FFFFFF"/>
                </a:solidFill>
              </a:defRPr>
            </a:pPr>
            <a:r>
              <a:t>🎯 Zero Clashes Guaranteed</a:t>
            </a:r>
          </a:p>
          <a:p>
            <a:pPr>
              <a:defRPr sz="1100">
                <a:solidFill>
                  <a:srgbClr val="CBD5E1"/>
                </a:solidFill>
              </a:defRPr>
            </a:pPr>
            <a:r>
              <a:t>Eliminates 100% of student exam overlap grievances, emergency re-tests, and supplementary scheduling overhead.</a:t>
            </a:r>
          </a:p>
        </p:txBody>
      </p:sp>
      <p:sp>
        <p:nvSpPr>
          <p:cNvPr id="7" name="Rounded Rectangle 6"/>
          <p:cNvSpPr/>
          <p:nvPr/>
        </p:nvSpPr>
        <p:spPr>
          <a:xfrm>
            <a:off x="6126480" y="1828800"/>
            <a:ext cx="2560320" cy="4297680"/>
          </a:xfrm>
          <a:prstGeom prst="roundRect">
            <a:avLst/>
          </a:prstGeom>
          <a:solidFill>
            <a:srgbClr val="1E293B"/>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defRPr sz="1000" b="1">
                <a:solidFill>
                  <a:srgbClr val="F59E0B"/>
                </a:solidFill>
              </a:defRPr>
            </a:pPr>
            <a:r>
              <a:t>CAMPUS RESOURCE OPTIMIZATION</a:t>
            </a:r>
          </a:p>
          <a:p>
            <a:pPr>
              <a:spcAft>
                <a:spcPts val="1000"/>
              </a:spcAft>
              <a:defRPr sz="1400" b="1">
                <a:solidFill>
                  <a:srgbClr val="FFFFFF"/>
                </a:solidFill>
              </a:defRPr>
            </a:pPr>
            <a:r>
              <a:t>🌱 Smart Campus Sustainability</a:t>
            </a:r>
          </a:p>
          <a:p>
            <a:pPr>
              <a:defRPr sz="1100">
                <a:solidFill>
                  <a:srgbClr val="CBD5E1"/>
                </a:solidFill>
              </a:defRPr>
            </a:pPr>
            <a:r>
              <a:t>Floor-by-floor allocation concentrates students into specific building wings, saving campus electricity and HVAC power.</a:t>
            </a:r>
          </a:p>
        </p:txBody>
      </p:sp>
      <p:sp>
        <p:nvSpPr>
          <p:cNvPr id="8" name="Rounded Rectangle 7"/>
          <p:cNvSpPr/>
          <p:nvPr/>
        </p:nvSpPr>
        <p:spPr>
          <a:xfrm>
            <a:off x="8823960" y="1828800"/>
            <a:ext cx="2560320" cy="4297680"/>
          </a:xfrm>
          <a:prstGeom prst="roundRect">
            <a:avLst/>
          </a:prstGeom>
          <a:solidFill>
            <a:srgbClr val="1E293B"/>
          </a:solidFill>
          <a:ln w="19050">
            <a:solidFill>
              <a:srgbClr val="818CF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defRPr sz="1000" b="1">
                <a:solidFill>
                  <a:srgbClr val="818CF8"/>
                </a:solidFill>
              </a:defRPr>
            </a:pPr>
            <a:r>
              <a:t>INSTITUTIONAL SCALABILITY</a:t>
            </a:r>
          </a:p>
          <a:p>
            <a:pPr>
              <a:spcAft>
                <a:spcPts val="1000"/>
              </a:spcAft>
              <a:defRPr sz="1400" b="1">
                <a:solidFill>
                  <a:srgbClr val="FFFFFF"/>
                </a:solidFill>
              </a:defRPr>
            </a:pPr>
            <a:r>
              <a:t>📈 High Horizontal Scalability</a:t>
            </a:r>
          </a:p>
          <a:p>
            <a:pPr>
              <a:defRPr sz="1100">
                <a:solidFill>
                  <a:srgbClr val="CBD5E1"/>
                </a:solidFill>
              </a:defRPr>
            </a:pPr>
            <a:r>
              <a:t>Handles 4,000+ students and 50+ courses with ease. Algorithm scale tested up to 20,000 enrollments seamlessly.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B132B"/>
        </a:solidFill>
        <a:effectLst/>
      </p:bgPr>
    </p:bg>
    <p:spTree>
      <p:nvGrpSpPr>
        <p:cNvPr id="1" name=""/>
        <p:cNvGrpSpPr/>
        <p:nvPr/>
      </p:nvGrpSpPr>
      <p:grpSpPr/>
      <p:sp>
        <p:nvSpPr>
          <p:cNvPr id="2" name="TextBox 1"/>
          <p:cNvSpPr txBox="1"/>
          <p:nvPr/>
        </p:nvSpPr>
        <p:spPr>
          <a:xfrm>
            <a:off x="731520" y="365760"/>
            <a:ext cx="7315200" cy="365760"/>
          </a:xfrm>
          <a:prstGeom prst="rect">
            <a:avLst/>
          </a:prstGeom>
          <a:noFill/>
        </p:spPr>
        <p:txBody>
          <a:bodyPr wrap="square">
            <a:spAutoFit/>
          </a:bodyPr>
          <a:lstStyle/>
          <a:p>
            <a:pPr>
              <a:defRPr sz="1100" b="1">
                <a:solidFill>
                  <a:srgbClr val="38BDF8"/>
                </a:solidFill>
              </a:defRPr>
            </a:pPr>
            <a:r>
              <a:t>■  ROADMAP &amp; CONCLUSION</a:t>
            </a:r>
          </a:p>
        </p:txBody>
      </p:sp>
      <p:sp>
        <p:nvSpPr>
          <p:cNvPr id="3" name="TextBox 2"/>
          <p:cNvSpPr txBox="1"/>
          <p:nvPr/>
        </p:nvSpPr>
        <p:spPr>
          <a:xfrm>
            <a:off x="731520" y="640080"/>
            <a:ext cx="10698480" cy="731520"/>
          </a:xfrm>
          <a:prstGeom prst="rect">
            <a:avLst/>
          </a:prstGeom>
          <a:noFill/>
        </p:spPr>
        <p:txBody>
          <a:bodyPr wrap="square">
            <a:spAutoFit/>
          </a:bodyPr>
          <a:lstStyle/>
          <a:p>
            <a:pPr>
              <a:defRPr sz="2600" b="1">
                <a:solidFill>
                  <a:srgbClr val="FFFFFF"/>
                </a:solidFill>
              </a:defRPr>
            </a:pPr>
            <a:r>
              <a:t>Future Roadmap &amp; Live Demonstration</a:t>
            </a:r>
          </a:p>
        </p:txBody>
      </p:sp>
      <p:sp>
        <p:nvSpPr>
          <p:cNvPr id="4" name="TextBox 3"/>
          <p:cNvSpPr txBox="1"/>
          <p:nvPr/>
        </p:nvSpPr>
        <p:spPr>
          <a:xfrm>
            <a:off x="731520" y="1280160"/>
            <a:ext cx="10698480" cy="365760"/>
          </a:xfrm>
          <a:prstGeom prst="rect">
            <a:avLst/>
          </a:prstGeom>
          <a:noFill/>
        </p:spPr>
        <p:txBody>
          <a:bodyPr wrap="square">
            <a:spAutoFit/>
          </a:bodyPr>
          <a:lstStyle/>
          <a:p>
            <a:pPr>
              <a:defRPr sz="1300">
                <a:solidFill>
                  <a:srgbClr val="94A3B8"/>
                </a:solidFill>
              </a:defRPr>
            </a:pPr>
            <a:r>
              <a:t>Next-generation enhancements and closing remarks</a:t>
            </a:r>
          </a:p>
        </p:txBody>
      </p:sp>
      <p:sp>
        <p:nvSpPr>
          <p:cNvPr id="5" name="Rounded Rectangle 4"/>
          <p:cNvSpPr/>
          <p:nvPr/>
        </p:nvSpPr>
        <p:spPr>
          <a:xfrm>
            <a:off x="731520" y="1828800"/>
            <a:ext cx="5212080" cy="42976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800"/>
              </a:spcAft>
              <a:defRPr sz="1400" b="1">
                <a:solidFill>
                  <a:srgbClr val="38BDF8"/>
                </a:solidFill>
              </a:defRPr>
            </a:pPr>
            <a:r>
              <a:t>Future Engineering Roadmap</a:t>
            </a:r>
          </a:p>
          <a:p>
            <a:pPr>
              <a:spcAft>
                <a:spcPts val="600"/>
              </a:spcAft>
            </a:pPr>
            <a:r>
              <a:rPr b="1" sz="1100">
                <a:solidFill>
                  <a:srgbClr val="FFFFFF"/>
                </a:solidFill>
              </a:rPr>
              <a:t>•  Multi-Campus Travel Constraints: </a:t>
            </a:r>
            <a:r>
              <a:rPr b="0" sz="1100">
                <a:solidFill>
                  <a:srgbClr val="CBD5E1"/>
                </a:solidFill>
              </a:rPr>
              <a:t>Incorporate student transit delays between campuses into graph edge penalties.</a:t>
            </a:r>
          </a:p>
          <a:p>
            <a:pPr>
              <a:spcAft>
                <a:spcPts val="600"/>
              </a:spcAft>
            </a:pPr>
            <a:r>
              <a:rPr b="1" sz="1100">
                <a:solidFill>
                  <a:srgbClr val="FFFFFF"/>
                </a:solidFill>
              </a:rPr>
              <a:t>•  Faculty Invigilation Preferences: </a:t>
            </a:r>
            <a:r>
              <a:rPr b="0" sz="1100">
                <a:solidFill>
                  <a:srgbClr val="CBD5E1"/>
                </a:solidFill>
              </a:rPr>
              <a:t>Add constraint programming for teacher scheduling, department preferences, and rest intervals.</a:t>
            </a:r>
          </a:p>
          <a:p>
            <a:pPr>
              <a:spcAft>
                <a:spcPts val="600"/>
              </a:spcAft>
            </a:pPr>
            <a:r>
              <a:rPr b="1" sz="1100">
                <a:solidFill>
                  <a:srgbClr val="FFFFFF"/>
                </a:solidFill>
              </a:rPr>
              <a:t>•  Back-to-Back Exam Minimization: </a:t>
            </a:r>
            <a:r>
              <a:rPr b="0" sz="1100">
                <a:solidFill>
                  <a:srgbClr val="CBD5E1"/>
                </a:solidFill>
              </a:rPr>
              <a:t>Introduce secondary soft-constraint weighting to prevent students from having consecutive morning and afternoon exams.</a:t>
            </a:r>
          </a:p>
          <a:p>
            <a:pPr>
              <a:spcAft>
                <a:spcPts val="600"/>
              </a:spcAft>
            </a:pPr>
            <a:r>
              <a:rPr b="1" sz="1100">
                <a:solidFill>
                  <a:srgbClr val="FFFFFF"/>
                </a:solidFill>
              </a:rPr>
              <a:t>•  ERP Integration (Banner / SAP / VTOP): </a:t>
            </a:r>
            <a:r>
              <a:rPr b="0" sz="1100">
                <a:solidFill>
                  <a:srgbClr val="CBD5E1"/>
                </a:solidFill>
              </a:rPr>
              <a:t>Direct REST webhooks to automatically sync student registrations and publish room tickets to student portals.</a:t>
            </a:r>
          </a:p>
        </p:txBody>
      </p:sp>
      <p:sp>
        <p:nvSpPr>
          <p:cNvPr id="6" name="Rounded Rectangle 5"/>
          <p:cNvSpPr/>
          <p:nvPr/>
        </p:nvSpPr>
        <p:spPr>
          <a:xfrm>
            <a:off x="6217920" y="1828800"/>
            <a:ext cx="5212080" cy="42976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Aft>
                <a:spcPts val="800"/>
              </a:spcAft>
              <a:defRPr sz="1400" b="1">
                <a:solidFill>
                  <a:srgbClr val="34D399"/>
                </a:solidFill>
              </a:defRPr>
            </a:pPr>
            <a:r>
              <a:t>Infinite Innovators — Final Takeaways</a:t>
            </a:r>
          </a:p>
          <a:p>
            <a:pPr>
              <a:spcAft>
                <a:spcPts val="600"/>
              </a:spcAft>
            </a:pPr>
            <a:r>
              <a:rPr b="1" sz="1100">
                <a:solidFill>
                  <a:srgbClr val="FFFFFF"/>
                </a:solidFill>
              </a:rPr>
              <a:t>•  Discrete Math + Full Stack CS: </a:t>
            </a:r>
            <a:r>
              <a:rPr b="0" sz="1100">
                <a:solidFill>
                  <a:srgbClr val="CBD5E1"/>
                </a:solidFill>
              </a:rPr>
              <a:t>Bridging graph coloring theory with modern microservices to solve an authentic university challenge.</a:t>
            </a:r>
          </a:p>
          <a:p>
            <a:pPr>
              <a:spcAft>
                <a:spcPts val="600"/>
              </a:spcAft>
            </a:pPr>
            <a:r>
              <a:rPr b="1" sz="1100">
                <a:solidFill>
                  <a:srgbClr val="FFFFFF"/>
                </a:solidFill>
              </a:rPr>
              <a:t>•  Zero-Dependency Quickstart: </a:t>
            </a:r>
            <a:r>
              <a:rPr b="0" sz="1100">
                <a:solidFill>
                  <a:srgbClr val="CBD5E1"/>
                </a:solidFill>
              </a:rPr>
              <a:t>One-click launching via start.bat / start.ps1, plus offline mock mode ready for immediate jury testing.</a:t>
            </a:r>
          </a:p>
          <a:p>
            <a:pPr>
              <a:spcAft>
                <a:spcPts val="600"/>
              </a:spcAft>
            </a:pPr>
            <a:r>
              <a:rPr b="1" sz="1100">
                <a:solidFill>
                  <a:srgbClr val="FFFFFF"/>
                </a:solidFill>
              </a:rPr>
              <a:t>•  Open-Source Codebase: </a:t>
            </a:r>
            <a:r>
              <a:rPr b="0" sz="1100">
                <a:solidFill>
                  <a:srgbClr val="CBD5E1"/>
                </a:solidFill>
              </a:rPr>
              <a:t>Cleanly documented repository on GitHub with Swagger API docs, unit tests, and realistic sample datasets.</a:t>
            </a:r>
          </a:p>
          <a:p>
            <a:pPr>
              <a:spcBef>
                <a:spcPts val="1400"/>
              </a:spcBef>
            </a:pPr>
            <a:r>
              <a:rPr b="1">
                <a:solidFill>
                  <a:srgbClr val="FFFFFF"/>
                </a:solidFill>
              </a:rPr>
              <a:t>Repository: </a:t>
            </a:r>
            <a:r>
              <a:rPr>
                <a:solidFill>
                  <a:srgbClr val="38BDF8"/>
                </a:solidFill>
              </a:rPr>
              <a:t>github.com/mohitinnani004-afk/mathclub-hackathon-infinite-innovators-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